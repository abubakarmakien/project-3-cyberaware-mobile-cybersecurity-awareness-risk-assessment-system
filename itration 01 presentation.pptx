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373" autoAdjust="0"/>
  </p:normalViewPr>
  <p:slideViewPr>
    <p:cSldViewPr snapToGrid="0" snapToObjects="1">
      <p:cViewPr varScale="1">
        <p:scale>
          <a:sx n="75" d="100"/>
          <a:sy n="75" d="100"/>
        </p:scale>
        <p:origin x="946" y="58"/>
      </p:cViewPr>
      <p:guideLst>
        <p:guide orient="horz" pos="2160"/>
        <p:guide pos="2880"/>
      </p:guideLst>
    </p:cSldViewPr>
  </p:slideViewPr>
  <p:notesTextViewPr>
    <p:cViewPr>
      <p:scale>
        <a:sx n="100" d="100"/>
        <a:sy n="100" d="100"/>
      </p:scale>
      <p:origin x="0" y="-8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9/18/2026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a:t>Welcome</a:t>
            </a:r>
            <a:r>
              <a:rPr lang="en-AU" dirty="0"/>
              <a:t> everyone</a:t>
            </a:r>
            <a:r>
              <a:rPr dirty="0"/>
              <a:t>.</a:t>
            </a:r>
            <a:r>
              <a:rPr lang="en-AU" dirty="0"/>
              <a:t> Its me______. And my team members are ________. We </a:t>
            </a:r>
            <a:r>
              <a:rPr dirty="0"/>
              <a:t>pleased to propose </a:t>
            </a:r>
            <a:r>
              <a:rPr dirty="0" err="1"/>
              <a:t>CyberAware</a:t>
            </a:r>
            <a:r>
              <a:rPr dirty="0"/>
              <a:t>, a mobile cybersecurity training and risk assessment application for </a:t>
            </a:r>
            <a:r>
              <a:rPr dirty="0" err="1"/>
              <a:t>SmallBiz</a:t>
            </a:r>
            <a:r>
              <a:rPr dirty="0"/>
              <a:t> Connect. Our focus is on mitigating human-centric security risks through proactive education. By empowering employees with accessible tools, we aim to build a resilient defense against mobile threats. This slide outlines our primary objective of enhancing organizational security posture via innovative, user-friendly mobile software solutions.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our presentation agenda. We will discuss the **Project Background**, **Objectives**, and **Problem Analysis** before reviewing the **Product Backlog** and **Roadmap**. We will then transition to technical details, covering **System Architecture**, our **Technical Stack**, and **User Storyboarding**. This structured approach ensures alignment on both business goals and technical execution as we move forward with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objective for SmallBiz Connect is to establish a robust cybersecurity culture without the high costs associated with commercial platforms. This slide outlines the strategic transition to a custom mobile-first learning experience. We will address critical vulnerabilities by educating staff on topics such as safe browsing and social engineering, ensuring a comprehensive defense against modern digital threats.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examines the critical gaps in current cybersecurity training solutions for small businesses. We have identified three primary drawbacks: the high financial barrier to entry, the lack of tailored educational content, and the absence of real-time monitoring capabilities. CyberAware addresses these pain points by offering an affordable, personalized platform that includes a robust management dashboard to track and mitigate organizational risk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our current development priorities within the product backlog. We have categorized user stories by priority level to ensure that high-impact features, such as secure login and training modules, are delivered first to address data privacy and awareness goals. Medium-priority stories focused on scoring and administration will follow to complete the risk profiling and oversight ecosystem. This roadmap ensures we meet both user needs and business requirements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t>Our development roadmap is structured into four key stages to ensure a systematic delivery. We kick off with the Core Foundation during weeks 3 and 4, establishing the base infrastructure. Week 5 is focused on Interactive Quizzes to drive engagement. In week 6, we implement Analytics and Dashboards for data visibility. The project wraps up in week 7 with Final Testing and Deployment to guarantee high quality and a successful launch for all users.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our first sprint, the team will focus on the essential architectural building blocks. This work involves establishing a secure authentication system and user registration framework. Furthermore, we will develop foundational data structures to accurately track user progress across training modules. These initial steps are crucial for ensuring a scalable and secure user experience from the outset.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utilizes a professional three-tier architecture to ensure high scalability and easy maintenance. The presentation layer manages mobile interactions, while the business layer handles assessment logic and score calculations. Finally, the data layer securely stores user profiles, quiz results, and training content. This modular design helps separate concerns and improves overall system reliability and security for all users.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technical stack is chosen to ensure cross-platform performance. The frontend utilizes standard web technologies like HTML5 and CSS. The backend is built with Python and Node.js for scalability. Data persistence is managed via MySQL and SQL Server. Finally, we use GitHub for versioning and Jira for agile management to streamline the lifecycle. This integrated approach ensures a maintainable and efficient environment for delivering high-quality software results.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a:t>This slide details the logical flow of our user storyboarding process. We start with account creation, move through simulated phishing engagements, and conclude with performance analysis. By mapping these steps, we ensure that the system architecture is robust and that each user interaction reinforces our primary business goal of increasing organizational cyber awareness and resilience.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During this retrospective of the initial planning phase, we focus on the foundational elements that set our project's direction. We successfully defined the scope and established robust workflows using Jira, ensuring every objective was backed by specific user stories. A key success was defining the scoring algorithm early, which proved vital for architectural design. This proactive approach minimized risks and allowed the team to build with high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our upcoming development cycles, we are prioritizing quality through more frequent peer code reviews. By refining how we document third-party libraries and dependencies within GitHub, we ensure transparency and justification for every component. This proactive strategy is designed to minimize technical debt and streamline our long-term maintenance processes, fostering a culture of excellence and accountability within the team as we scale our operations.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we wrap up, it is clear that </a:t>
            </a:r>
            <a:r>
              <a:rPr dirty="0" err="1"/>
              <a:t>CyberAware</a:t>
            </a:r>
            <a:r>
              <a:rPr dirty="0"/>
              <a:t> will offer </a:t>
            </a:r>
            <a:r>
              <a:rPr dirty="0" err="1"/>
              <a:t>SmallBiz</a:t>
            </a:r>
            <a:r>
              <a:rPr dirty="0"/>
              <a:t> Connect a transformative toolset for managing cybersecurity. By prioritizing employee engagement through interactive education and leveraging visual analytics, we can significantly reduce vulnerabilities. The development team is fully prepared to commence the first sprint, ensuring a solid and secure digital foundation for the entire organization moving forward. We look forward to realizing this vision together.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18" Type="http://schemas.openxmlformats.org/officeDocument/2006/relationships/image" Target="../media/image55.png"/><Relationship Id="rId3" Type="http://schemas.openxmlformats.org/officeDocument/2006/relationships/image" Target="../media/image1.png"/><Relationship Id="rId21" Type="http://schemas.openxmlformats.org/officeDocument/2006/relationships/image" Target="../media/image58.png"/><Relationship Id="rId7" Type="http://schemas.openxmlformats.org/officeDocument/2006/relationships/image" Target="../media/image44.png"/><Relationship Id="rId12" Type="http://schemas.openxmlformats.org/officeDocument/2006/relationships/image" Target="../media/image49.png"/><Relationship Id="rId17" Type="http://schemas.openxmlformats.org/officeDocument/2006/relationships/image" Target="../media/image54.png"/><Relationship Id="rId2" Type="http://schemas.openxmlformats.org/officeDocument/2006/relationships/notesSlide" Target="../notesSlides/notesSlide8.xml"/><Relationship Id="rId16" Type="http://schemas.openxmlformats.org/officeDocument/2006/relationships/image" Target="../media/image53.png"/><Relationship Id="rId20"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24" Type="http://schemas.openxmlformats.org/officeDocument/2006/relationships/image" Target="../media/image61.png"/><Relationship Id="rId5" Type="http://schemas.openxmlformats.org/officeDocument/2006/relationships/image" Target="../media/image42.png"/><Relationship Id="rId15" Type="http://schemas.openxmlformats.org/officeDocument/2006/relationships/image" Target="../media/image52.png"/><Relationship Id="rId23" Type="http://schemas.openxmlformats.org/officeDocument/2006/relationships/image" Target="../media/image60.png"/><Relationship Id="rId10" Type="http://schemas.openxmlformats.org/officeDocument/2006/relationships/image" Target="../media/image47.png"/><Relationship Id="rId19" Type="http://schemas.openxmlformats.org/officeDocument/2006/relationships/image" Target="../media/image56.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1.png"/><Relationship Id="rId22" Type="http://schemas.openxmlformats.org/officeDocument/2006/relationships/image" Target="../media/image59.png"/></Relationships>
</file>

<file path=ppt/slides/_rels/slide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1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1.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image" Target="../media/image1.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1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1.png"/><Relationship Id="rId7" Type="http://schemas.openxmlformats.org/officeDocument/2006/relationships/image" Target="../media/image8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93.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bd036fc5-a18c-436a-84b0-14fe466e3036.png"/>
          <p:cNvPicPr>
            <a:picLocks noChangeAspect="1"/>
          </p:cNvPicPr>
          <p:nvPr/>
        </p:nvPicPr>
        <p:blipFill>
          <a:blip r:embed="rId4"/>
          <a:stretch>
            <a:fillRect/>
          </a:stretch>
        </p:blipFill>
        <p:spPr>
          <a:xfrm>
            <a:off x="0" y="326433"/>
            <a:ext cx="9175451" cy="6529174"/>
          </a:xfrm>
          <a:prstGeom prst="rect">
            <a:avLst/>
          </a:prstGeom>
        </p:spPr>
      </p:pic>
      <p:sp>
        <p:nvSpPr>
          <p:cNvPr id="4" name="TextBox 3"/>
          <p:cNvSpPr txBox="1"/>
          <p:nvPr/>
        </p:nvSpPr>
        <p:spPr>
          <a:xfrm>
            <a:off x="775692" y="2129283"/>
            <a:ext cx="4522142" cy="572690"/>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999" b="1" i="0" spc="59">
                <a:solidFill>
                  <a:srgbClr val="FFFFFF"/>
                </a:solidFill>
                <a:latin typeface="DM Sans"/>
              </a:defRPr>
            </a:pPr>
            <a:r>
              <a:rPr sz="3999" b="1" i="0">
                <a:solidFill>
                  <a:srgbClr val="FFFFFF"/>
                </a:solidFill>
                <a:latin typeface="DM Sans"/>
              </a:rPr>
              <a:t>CyberAware</a:t>
            </a:r>
          </a:p>
        </p:txBody>
      </p:sp>
      <p:sp>
        <p:nvSpPr>
          <p:cNvPr id="5" name="TextBox 4"/>
          <p:cNvSpPr txBox="1"/>
          <p:nvPr/>
        </p:nvSpPr>
        <p:spPr>
          <a:xfrm>
            <a:off x="776436" y="2651670"/>
            <a:ext cx="4097982" cy="1113829"/>
          </a:xfrm>
          <a:prstGeom prst="rect">
            <a:avLst/>
          </a:prstGeom>
          <a:noFill/>
          <a:ln>
            <a:noFill/>
          </a:ln>
          <a:effectLst>
            <a:outerShdw>
              <a:srgbClr val="000000">
                <a:alpha val="0"/>
              </a:srgbClr>
            </a:outerShdw>
          </a:effectLst>
        </p:spPr>
        <p:txBody>
          <a:bodyPr wrap="square" lIns="0" tIns="0" rIns="0" bIns="0">
            <a:spAutoFit/>
          </a:bodyPr>
          <a:lstStyle/>
          <a:p>
            <a:pPr>
              <a:lnSpc>
                <a:spcPct val="76000"/>
              </a:lnSpc>
              <a:defRPr sz="4482" b="1" i="1" spc="66">
                <a:solidFill>
                  <a:srgbClr val="FFFFFF"/>
                </a:solidFill>
                <a:latin typeface="Syne"/>
              </a:defRPr>
            </a:pPr>
            <a:r>
              <a:rPr sz="4482" b="1" i="1">
                <a:solidFill>
                  <a:srgbClr val="FFFFFF"/>
                </a:solidFill>
                <a:latin typeface="Playfair Display Semi-Bold Italics"/>
              </a:rPr>
              <a:t>Mobile Cybersecurity</a:t>
            </a:r>
          </a:p>
        </p:txBody>
      </p:sp>
      <p:sp>
        <p:nvSpPr>
          <p:cNvPr id="6" name="TextBox 5"/>
          <p:cNvSpPr txBox="1"/>
          <p:nvPr/>
        </p:nvSpPr>
        <p:spPr>
          <a:xfrm>
            <a:off x="775692" y="4056905"/>
            <a:ext cx="4369444" cy="135031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0" i="0" spc="21">
                <a:solidFill>
                  <a:srgbClr val="FFFFFF"/>
                </a:solidFill>
                <a:latin typeface="DM Sans"/>
              </a:defRPr>
            </a:pPr>
            <a:r>
              <a:rPr sz="1469" b="0" i="0">
                <a:solidFill>
                  <a:srgbClr val="FFFFFF"/>
                </a:solidFill>
                <a:latin typeface="DM Sans"/>
              </a:rPr>
              <a:t>Strategic proposal for </a:t>
            </a:r>
            <a:r>
              <a:rPr sz="1469" b="1" i="0">
                <a:solidFill>
                  <a:srgbClr val="FFFFFF"/>
                </a:solidFill>
                <a:latin typeface="DM Sans"/>
              </a:rPr>
              <a:t>SmallBiz Connect</a:t>
            </a:r>
            <a:r>
              <a:rPr sz="1469" b="0" i="0">
                <a:solidFill>
                  <a:srgbClr val="FFFFFF"/>
                </a:solidFill>
                <a:latin typeface="DM Sans"/>
              </a:rPr>
              <a:t> to deploy a mobile-first </a:t>
            </a:r>
            <a:r>
              <a:rPr sz="1469" b="1" i="0">
                <a:solidFill>
                  <a:srgbClr val="FFFFFF"/>
                </a:solidFill>
                <a:latin typeface="DM Sans"/>
              </a:rPr>
              <a:t>cybersecurity awareness</a:t>
            </a:r>
            <a:r>
              <a:rPr sz="1469" b="0" i="0">
                <a:solidFill>
                  <a:srgbClr val="FFFFFF"/>
                </a:solidFill>
                <a:latin typeface="DM Sans"/>
              </a:rPr>
              <a:t> and </a:t>
            </a:r>
            <a:r>
              <a:rPr sz="1469" b="1" i="0">
                <a:solidFill>
                  <a:srgbClr val="FFFFFF"/>
                </a:solidFill>
                <a:latin typeface="DM Sans"/>
              </a:rPr>
              <a:t>risk assessment</a:t>
            </a:r>
            <a:r>
              <a:rPr sz="1469" b="0" i="0">
                <a:solidFill>
                  <a:srgbClr val="FFFFFF"/>
                </a:solidFill>
                <a:latin typeface="DM Sans"/>
              </a:rPr>
              <a:t> tool for employee empowerment.</a:t>
            </a:r>
          </a:p>
        </p:txBody>
      </p:sp>
      <p:pic>
        <p:nvPicPr>
          <p:cNvPr id="7" name="Picture 6" descr="b89e1200-426c-47a2-a7ee-3beda8033226.png"/>
          <p:cNvPicPr>
            <a:picLocks noChangeAspect="1"/>
          </p:cNvPicPr>
          <p:nvPr/>
        </p:nvPicPr>
        <p:blipFill>
          <a:blip r:embed="rId5"/>
          <a:stretch>
            <a:fillRect/>
          </a:stretch>
        </p:blipFill>
        <p:spPr>
          <a:xfrm>
            <a:off x="5887045" y="3112740"/>
            <a:ext cx="6304954" cy="3168997"/>
          </a:xfrm>
          <a:prstGeom prst="rect">
            <a:avLst/>
          </a:prstGeom>
        </p:spPr>
      </p:pic>
      <p:pic>
        <p:nvPicPr>
          <p:cNvPr id="8" name="Picture 7" descr="05961a0b-f67c-4af5-aea9-432d30383df2.png"/>
          <p:cNvPicPr>
            <a:picLocks noChangeAspect="1"/>
          </p:cNvPicPr>
          <p:nvPr/>
        </p:nvPicPr>
        <p:blipFill>
          <a:blip r:embed="rId6"/>
          <a:stretch>
            <a:fillRect/>
          </a:stretch>
        </p:blipFill>
        <p:spPr>
          <a:xfrm>
            <a:off x="7753647" y="0"/>
            <a:ext cx="4438352" cy="3460700"/>
          </a:xfrm>
          <a:prstGeom prst="rect">
            <a:avLst/>
          </a:prstGeom>
        </p:spPr>
      </p:pic>
      <p:pic>
        <p:nvPicPr>
          <p:cNvPr id="9" name="Picture 8" descr="709ab709-7da0-418a-af22-65048dd78a95.png"/>
          <p:cNvPicPr>
            <a:picLocks noChangeAspect="1"/>
          </p:cNvPicPr>
          <p:nvPr/>
        </p:nvPicPr>
        <p:blipFill>
          <a:blip r:embed="rId7"/>
          <a:stretch>
            <a:fillRect/>
          </a:stretch>
        </p:blipFill>
        <p:spPr>
          <a:xfrm>
            <a:off x="6229945" y="3513980"/>
            <a:ext cx="5579566" cy="2757338"/>
          </a:xfrm>
          <a:prstGeom prst="rect">
            <a:avLst/>
          </a:prstGeom>
        </p:spPr>
      </p:pic>
      <p:pic>
        <p:nvPicPr>
          <p:cNvPr id="10" name="Picture 9" descr="4738e500-0bda-4fef-be80-fe965eb70bb5.png"/>
          <p:cNvPicPr>
            <a:picLocks noChangeAspect="1"/>
          </p:cNvPicPr>
          <p:nvPr/>
        </p:nvPicPr>
        <p:blipFill>
          <a:blip r:embed="rId8"/>
          <a:stretch>
            <a:fillRect/>
          </a:stretch>
        </p:blipFill>
        <p:spPr>
          <a:xfrm>
            <a:off x="7860506" y="557956"/>
            <a:ext cx="3948856" cy="3248620"/>
          </a:xfrm>
          <a:prstGeom prst="rect">
            <a:avLst/>
          </a:prstGeom>
        </p:spPr>
      </p:pic>
      <p:pic>
        <p:nvPicPr>
          <p:cNvPr id="11" name="Picture 10" descr="055d8ff4-199c-45c7-8cc2-bf3f1eb8d866.png"/>
          <p:cNvPicPr>
            <a:picLocks noChangeAspect="1"/>
          </p:cNvPicPr>
          <p:nvPr/>
        </p:nvPicPr>
        <p:blipFill>
          <a:blip r:embed="rId9"/>
          <a:stretch>
            <a:fillRect/>
          </a:stretch>
        </p:blipFill>
        <p:spPr>
          <a:xfrm>
            <a:off x="6222801" y="3513980"/>
            <a:ext cx="2823269" cy="2706290"/>
          </a:xfrm>
          <a:prstGeom prst="rect">
            <a:avLst/>
          </a:prstGeom>
        </p:spPr>
      </p:pic>
      <p:pic>
        <p:nvPicPr>
          <p:cNvPr id="12" name="Picture 11" descr="9ac0ba24-31e4-49a3-95ad-d566cb581a2a.png"/>
          <p:cNvPicPr>
            <a:picLocks noChangeAspect="1"/>
          </p:cNvPicPr>
          <p:nvPr/>
        </p:nvPicPr>
        <p:blipFill>
          <a:blip r:embed="rId10"/>
          <a:stretch>
            <a:fillRect/>
          </a:stretch>
        </p:blipFill>
        <p:spPr>
          <a:xfrm>
            <a:off x="7860357" y="557956"/>
            <a:ext cx="3890069" cy="5647432"/>
          </a:xfrm>
          <a:prstGeom prst="rect">
            <a:avLst/>
          </a:prstGeom>
        </p:spPr>
      </p:pic>
      <p:pic>
        <p:nvPicPr>
          <p:cNvPr id="13" name="Picture 12" descr="01b6d7cb-4276-466e-a961-d106dc0d147a.png"/>
          <p:cNvPicPr>
            <a:picLocks noChangeAspect="1"/>
          </p:cNvPicPr>
          <p:nvPr/>
        </p:nvPicPr>
        <p:blipFill>
          <a:blip r:embed="rId11"/>
          <a:stretch>
            <a:fillRect/>
          </a:stretch>
        </p:blipFill>
        <p:spPr>
          <a:xfrm>
            <a:off x="59050" y="5141713"/>
            <a:ext cx="2588188" cy="1113829"/>
          </a:xfrm>
          <a:prstGeom prst="rect">
            <a:avLst/>
          </a:prstGeom>
        </p:spPr>
      </p:pic>
      <p:sp>
        <p:nvSpPr>
          <p:cNvPr id="15" name="TextBox 14"/>
          <p:cNvSpPr txBox="1"/>
          <p:nvPr/>
        </p:nvSpPr>
        <p:spPr>
          <a:xfrm>
            <a:off x="59051" y="5306573"/>
            <a:ext cx="2581043" cy="824841"/>
          </a:xfrm>
          <a:prstGeom prst="rect">
            <a:avLst/>
          </a:prstGeom>
          <a:noFill/>
          <a:ln>
            <a:noFill/>
          </a:ln>
          <a:effectLst>
            <a:outerShdw>
              <a:srgbClr val="000000">
                <a:alpha val="0"/>
              </a:srgbClr>
            </a:outerShdw>
          </a:effectLst>
        </p:spPr>
        <p:txBody>
          <a:bodyPr wrap="square" lIns="0" tIns="0" rIns="0" bIns="0">
            <a:spAutoFit/>
          </a:bodyPr>
          <a:lstStyle/>
          <a:p>
            <a:pPr>
              <a:lnSpc>
                <a:spcPct val="100000"/>
              </a:lnSpc>
              <a:defRPr sz="1340" b="0" i="0">
                <a:solidFill>
                  <a:srgbClr val="D9D9D9"/>
                </a:solidFill>
                <a:latin typeface="DM Sans"/>
              </a:defRPr>
            </a:pPr>
            <a:r>
              <a:rPr lang="en-AU" sz="1340" dirty="0">
                <a:solidFill>
                  <a:srgbClr val="D9D9D9"/>
                </a:solidFill>
                <a:latin typeface="DM Sans"/>
              </a:rPr>
              <a:t>Abhinav 240313 </a:t>
            </a:r>
          </a:p>
          <a:p>
            <a:pPr>
              <a:lnSpc>
                <a:spcPct val="100000"/>
              </a:lnSpc>
              <a:defRPr sz="1340" b="0" i="0">
                <a:solidFill>
                  <a:srgbClr val="D9D9D9"/>
                </a:solidFill>
                <a:latin typeface="DM Sans"/>
              </a:defRPr>
            </a:pPr>
            <a:r>
              <a:rPr lang="en-AU" sz="1340" dirty="0">
                <a:solidFill>
                  <a:srgbClr val="D9D9D9"/>
                </a:solidFill>
                <a:latin typeface="DM Sans"/>
              </a:rPr>
              <a:t>Ashish 240010 </a:t>
            </a:r>
          </a:p>
          <a:p>
            <a:pPr>
              <a:lnSpc>
                <a:spcPct val="100000"/>
              </a:lnSpc>
              <a:defRPr sz="1340" b="0" i="0">
                <a:solidFill>
                  <a:srgbClr val="D9D9D9"/>
                </a:solidFill>
                <a:latin typeface="DM Sans"/>
              </a:defRPr>
            </a:pPr>
            <a:r>
              <a:rPr lang="en-AU" sz="1340" dirty="0">
                <a:solidFill>
                  <a:srgbClr val="D9D9D9"/>
                </a:solidFill>
                <a:latin typeface="DM Sans"/>
              </a:rPr>
              <a:t>Saurav Kamboj 240312</a:t>
            </a:r>
          </a:p>
          <a:p>
            <a:pPr>
              <a:lnSpc>
                <a:spcPct val="100000"/>
              </a:lnSpc>
              <a:defRPr sz="1340" b="0" i="0">
                <a:solidFill>
                  <a:srgbClr val="D9D9D9"/>
                </a:solidFill>
                <a:latin typeface="DM Sans"/>
              </a:defRPr>
            </a:pPr>
            <a:r>
              <a:rPr lang="en-AU" sz="1340" dirty="0">
                <a:solidFill>
                  <a:srgbClr val="D9D9D9"/>
                </a:solidFill>
                <a:latin typeface="DM Sans"/>
              </a:rPr>
              <a:t>Muhammad Abu Bakar 240179</a:t>
            </a:r>
            <a:endParaRPr sz="1340" b="0" i="0" dirty="0">
              <a:solidFill>
                <a:srgbClr val="D9D9D9"/>
              </a:solidFill>
              <a:latin typeface="DM Sans"/>
            </a:endParaRPr>
          </a:p>
        </p:txBody>
      </p:sp>
      <p:sp>
        <p:nvSpPr>
          <p:cNvPr id="16" name="TextBox 15"/>
          <p:cNvSpPr txBox="1"/>
          <p:nvPr/>
        </p:nvSpPr>
        <p:spPr>
          <a:xfrm>
            <a:off x="11186219" y="6527016"/>
            <a:ext cx="1005780" cy="126950"/>
          </a:xfrm>
          <a:prstGeom prst="rect">
            <a:avLst/>
          </a:prstGeom>
          <a:noFill/>
          <a:ln>
            <a:noFill/>
          </a:ln>
          <a:effectLst>
            <a:outerShdw>
              <a:srgbClr val="000000">
                <a:alpha val="0"/>
              </a:srgbClr>
            </a:outerShdw>
          </a:effectLst>
        </p:spPr>
        <p:txBody>
          <a:bodyPr wrap="square" lIns="0" tIns="0" rIns="0" bIns="0">
            <a:spAutoFit/>
          </a:bodyPr>
          <a:lstStyle/>
          <a:p>
            <a:pPr>
              <a:lnSpc>
                <a:spcPct val="83200"/>
              </a:lnSpc>
              <a:defRPr sz="933" b="0" i="0">
                <a:solidFill>
                  <a:srgbClr val="D9D9D9"/>
                </a:solidFill>
                <a:latin typeface="DM Sans"/>
              </a:defRPr>
            </a:pPr>
            <a:r>
              <a:rPr sz="933" b="0" i="0" dirty="0">
                <a:solidFill>
                  <a:srgbClr val="D9D9D9"/>
                </a:solidFill>
                <a:latin typeface="DM Sans"/>
              </a:rPr>
              <a:t>Sep 18,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19e673bc-e38a-452a-aec4-dfc4e7731fd6.png"/>
          <p:cNvPicPr>
            <a:picLocks noChangeAspect="1"/>
          </p:cNvPicPr>
          <p:nvPr/>
        </p:nvPicPr>
        <p:blipFill>
          <a:blip r:embed="rId4"/>
          <a:stretch>
            <a:fillRect/>
          </a:stretch>
        </p:blipFill>
        <p:spPr>
          <a:xfrm>
            <a:off x="0" y="328825"/>
            <a:ext cx="9175451" cy="6529174"/>
          </a:xfrm>
          <a:prstGeom prst="rect">
            <a:avLst/>
          </a:prstGeom>
        </p:spPr>
      </p:pic>
      <p:sp>
        <p:nvSpPr>
          <p:cNvPr id="4" name="TextBox 3"/>
          <p:cNvSpPr txBox="1"/>
          <p:nvPr/>
        </p:nvSpPr>
        <p:spPr>
          <a:xfrm>
            <a:off x="468808" y="717500"/>
            <a:ext cx="10914757"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6" b="1" i="1" spc="52">
                <a:solidFill>
                  <a:srgbClr val="FFFFFF"/>
                </a:solidFill>
                <a:latin typeface="Syne"/>
              </a:defRPr>
            </a:pPr>
            <a:r>
              <a:rPr sz="3536" b="1" i="1">
                <a:solidFill>
                  <a:srgbClr val="FFFFFF"/>
                </a:solidFill>
                <a:latin typeface="Playfair Display Semi-Bold Italics"/>
              </a:rPr>
              <a:t>Presentation Overview</a:t>
            </a:r>
          </a:p>
        </p:txBody>
      </p:sp>
      <p:sp>
        <p:nvSpPr>
          <p:cNvPr id="5" name="TextBox 4"/>
          <p:cNvSpPr txBox="1"/>
          <p:nvPr/>
        </p:nvSpPr>
        <p:spPr>
          <a:xfrm>
            <a:off x="1394073" y="1337667"/>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1</a:t>
            </a:r>
          </a:p>
        </p:txBody>
      </p:sp>
      <p:pic>
        <p:nvPicPr>
          <p:cNvPr id="6" name="Picture 5" descr="42815534-063a-4986-ba28-a70569c94b18.png"/>
          <p:cNvPicPr>
            <a:picLocks noChangeAspect="1"/>
          </p:cNvPicPr>
          <p:nvPr/>
        </p:nvPicPr>
        <p:blipFill>
          <a:blip r:embed="rId5"/>
          <a:stretch>
            <a:fillRect/>
          </a:stretch>
        </p:blipFill>
        <p:spPr>
          <a:xfrm>
            <a:off x="1318766" y="2473076"/>
            <a:ext cx="1419373" cy="165943"/>
          </a:xfrm>
          <a:prstGeom prst="rect">
            <a:avLst/>
          </a:prstGeom>
        </p:spPr>
      </p:pic>
      <p:sp>
        <p:nvSpPr>
          <p:cNvPr id="7" name="TextBox 6"/>
          <p:cNvSpPr txBox="1"/>
          <p:nvPr/>
        </p:nvSpPr>
        <p:spPr>
          <a:xfrm>
            <a:off x="2997844" y="1479946"/>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Project Background and Client Objectives</a:t>
            </a:r>
          </a:p>
        </p:txBody>
      </p:sp>
      <p:sp>
        <p:nvSpPr>
          <p:cNvPr id="8" name="TextBox 7"/>
          <p:cNvSpPr txBox="1"/>
          <p:nvPr/>
        </p:nvSpPr>
        <p:spPr>
          <a:xfrm>
            <a:off x="6398121" y="1337667"/>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2</a:t>
            </a:r>
          </a:p>
        </p:txBody>
      </p:sp>
      <p:pic>
        <p:nvPicPr>
          <p:cNvPr id="9" name="Picture 8" descr="42815534-063a-4986-ba28-a70569c94b18.png"/>
          <p:cNvPicPr>
            <a:picLocks noChangeAspect="1"/>
          </p:cNvPicPr>
          <p:nvPr/>
        </p:nvPicPr>
        <p:blipFill>
          <a:blip r:embed="rId5"/>
          <a:stretch>
            <a:fillRect/>
          </a:stretch>
        </p:blipFill>
        <p:spPr>
          <a:xfrm>
            <a:off x="6322814" y="2473076"/>
            <a:ext cx="1419373" cy="165943"/>
          </a:xfrm>
          <a:prstGeom prst="rect">
            <a:avLst/>
          </a:prstGeom>
        </p:spPr>
      </p:pic>
      <p:sp>
        <p:nvSpPr>
          <p:cNvPr id="10" name="TextBox 9"/>
          <p:cNvSpPr txBox="1"/>
          <p:nvPr/>
        </p:nvSpPr>
        <p:spPr>
          <a:xfrm>
            <a:off x="8001892" y="1479946"/>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Problem Analysis and Existing Drawbacks</a:t>
            </a:r>
          </a:p>
        </p:txBody>
      </p:sp>
      <p:sp>
        <p:nvSpPr>
          <p:cNvPr id="11" name="TextBox 10"/>
          <p:cNvSpPr txBox="1"/>
          <p:nvPr/>
        </p:nvSpPr>
        <p:spPr>
          <a:xfrm>
            <a:off x="1394073" y="2521446"/>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3</a:t>
            </a:r>
          </a:p>
        </p:txBody>
      </p:sp>
      <p:pic>
        <p:nvPicPr>
          <p:cNvPr id="12" name="Picture 11" descr="42815534-063a-4986-ba28-a70569c94b18.png"/>
          <p:cNvPicPr>
            <a:picLocks noChangeAspect="1"/>
          </p:cNvPicPr>
          <p:nvPr/>
        </p:nvPicPr>
        <p:blipFill>
          <a:blip r:embed="rId5"/>
          <a:stretch>
            <a:fillRect/>
          </a:stretch>
        </p:blipFill>
        <p:spPr>
          <a:xfrm>
            <a:off x="1318766" y="3656855"/>
            <a:ext cx="1419373" cy="165943"/>
          </a:xfrm>
          <a:prstGeom prst="rect">
            <a:avLst/>
          </a:prstGeom>
        </p:spPr>
      </p:pic>
      <p:sp>
        <p:nvSpPr>
          <p:cNvPr id="13" name="TextBox 12"/>
          <p:cNvSpPr txBox="1"/>
          <p:nvPr/>
        </p:nvSpPr>
        <p:spPr>
          <a:xfrm>
            <a:off x="2997844" y="2663725"/>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Product Backlog and User Stories</a:t>
            </a:r>
          </a:p>
        </p:txBody>
      </p:sp>
      <p:sp>
        <p:nvSpPr>
          <p:cNvPr id="14" name="TextBox 13"/>
          <p:cNvSpPr txBox="1"/>
          <p:nvPr/>
        </p:nvSpPr>
        <p:spPr>
          <a:xfrm>
            <a:off x="6398121" y="2521446"/>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4</a:t>
            </a:r>
          </a:p>
        </p:txBody>
      </p:sp>
      <p:pic>
        <p:nvPicPr>
          <p:cNvPr id="15" name="Picture 14" descr="42815534-063a-4986-ba28-a70569c94b18.png"/>
          <p:cNvPicPr>
            <a:picLocks noChangeAspect="1"/>
          </p:cNvPicPr>
          <p:nvPr/>
        </p:nvPicPr>
        <p:blipFill>
          <a:blip r:embed="rId5"/>
          <a:stretch>
            <a:fillRect/>
          </a:stretch>
        </p:blipFill>
        <p:spPr>
          <a:xfrm>
            <a:off x="6322814" y="3656855"/>
            <a:ext cx="1419373" cy="165943"/>
          </a:xfrm>
          <a:prstGeom prst="rect">
            <a:avLst/>
          </a:prstGeom>
        </p:spPr>
      </p:pic>
      <p:sp>
        <p:nvSpPr>
          <p:cNvPr id="16" name="TextBox 15"/>
          <p:cNvSpPr txBox="1"/>
          <p:nvPr/>
        </p:nvSpPr>
        <p:spPr>
          <a:xfrm>
            <a:off x="8001892" y="2663725"/>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Project Roadmap and Sprint Planning</a:t>
            </a:r>
          </a:p>
        </p:txBody>
      </p:sp>
      <p:sp>
        <p:nvSpPr>
          <p:cNvPr id="17" name="TextBox 16"/>
          <p:cNvSpPr txBox="1"/>
          <p:nvPr/>
        </p:nvSpPr>
        <p:spPr>
          <a:xfrm>
            <a:off x="1394073" y="3705225"/>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5</a:t>
            </a:r>
          </a:p>
        </p:txBody>
      </p:sp>
      <p:pic>
        <p:nvPicPr>
          <p:cNvPr id="18" name="Picture 17" descr="42815534-063a-4986-ba28-a70569c94b18.png"/>
          <p:cNvPicPr>
            <a:picLocks noChangeAspect="1"/>
          </p:cNvPicPr>
          <p:nvPr/>
        </p:nvPicPr>
        <p:blipFill>
          <a:blip r:embed="rId5"/>
          <a:stretch>
            <a:fillRect/>
          </a:stretch>
        </p:blipFill>
        <p:spPr>
          <a:xfrm>
            <a:off x="1318766" y="4840634"/>
            <a:ext cx="1419373" cy="165943"/>
          </a:xfrm>
          <a:prstGeom prst="rect">
            <a:avLst/>
          </a:prstGeom>
        </p:spPr>
      </p:pic>
      <p:sp>
        <p:nvSpPr>
          <p:cNvPr id="19" name="TextBox 18"/>
          <p:cNvSpPr txBox="1"/>
          <p:nvPr/>
        </p:nvSpPr>
        <p:spPr>
          <a:xfrm>
            <a:off x="2997844" y="3847504"/>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Initial Sprint Deliverables</a:t>
            </a:r>
          </a:p>
        </p:txBody>
      </p:sp>
      <p:sp>
        <p:nvSpPr>
          <p:cNvPr id="20" name="TextBox 19"/>
          <p:cNvSpPr txBox="1"/>
          <p:nvPr/>
        </p:nvSpPr>
        <p:spPr>
          <a:xfrm>
            <a:off x="6398121" y="3705225"/>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6</a:t>
            </a:r>
          </a:p>
        </p:txBody>
      </p:sp>
      <p:pic>
        <p:nvPicPr>
          <p:cNvPr id="21" name="Picture 20" descr="42815534-063a-4986-ba28-a70569c94b18.png"/>
          <p:cNvPicPr>
            <a:picLocks noChangeAspect="1"/>
          </p:cNvPicPr>
          <p:nvPr/>
        </p:nvPicPr>
        <p:blipFill>
          <a:blip r:embed="rId5"/>
          <a:stretch>
            <a:fillRect/>
          </a:stretch>
        </p:blipFill>
        <p:spPr>
          <a:xfrm>
            <a:off x="6322814" y="4840634"/>
            <a:ext cx="1419373" cy="165943"/>
          </a:xfrm>
          <a:prstGeom prst="rect">
            <a:avLst/>
          </a:prstGeom>
        </p:spPr>
      </p:pic>
      <p:sp>
        <p:nvSpPr>
          <p:cNvPr id="22" name="TextBox 21"/>
          <p:cNvSpPr txBox="1"/>
          <p:nvPr/>
        </p:nvSpPr>
        <p:spPr>
          <a:xfrm>
            <a:off x="8001892" y="3847504"/>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System Architecture and Design</a:t>
            </a:r>
          </a:p>
        </p:txBody>
      </p:sp>
      <p:sp>
        <p:nvSpPr>
          <p:cNvPr id="23" name="TextBox 22"/>
          <p:cNvSpPr txBox="1"/>
          <p:nvPr/>
        </p:nvSpPr>
        <p:spPr>
          <a:xfrm>
            <a:off x="1394073" y="4889003"/>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7</a:t>
            </a:r>
          </a:p>
        </p:txBody>
      </p:sp>
      <p:pic>
        <p:nvPicPr>
          <p:cNvPr id="24" name="Picture 23" descr="42815534-063a-4986-ba28-a70569c94b18.png"/>
          <p:cNvPicPr>
            <a:picLocks noChangeAspect="1"/>
          </p:cNvPicPr>
          <p:nvPr/>
        </p:nvPicPr>
        <p:blipFill>
          <a:blip r:embed="rId5"/>
          <a:stretch>
            <a:fillRect/>
          </a:stretch>
        </p:blipFill>
        <p:spPr>
          <a:xfrm>
            <a:off x="1318766" y="6024413"/>
            <a:ext cx="1419373" cy="165943"/>
          </a:xfrm>
          <a:prstGeom prst="rect">
            <a:avLst/>
          </a:prstGeom>
        </p:spPr>
      </p:pic>
      <p:sp>
        <p:nvSpPr>
          <p:cNvPr id="25" name="TextBox 24"/>
          <p:cNvSpPr txBox="1"/>
          <p:nvPr/>
        </p:nvSpPr>
        <p:spPr>
          <a:xfrm>
            <a:off x="2997844" y="5031283"/>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Technical Stack and API Integration</a:t>
            </a:r>
          </a:p>
        </p:txBody>
      </p:sp>
      <p:sp>
        <p:nvSpPr>
          <p:cNvPr id="26" name="TextBox 25"/>
          <p:cNvSpPr txBox="1"/>
          <p:nvPr/>
        </p:nvSpPr>
        <p:spPr>
          <a:xfrm>
            <a:off x="6398121" y="4889003"/>
            <a:ext cx="1355824" cy="9660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7484" b="1" i="0" spc="123">
                <a:solidFill>
                  <a:srgbClr val="FFFFFF"/>
                </a:solidFill>
                <a:latin typeface="DM Sans"/>
              </a:defRPr>
            </a:pPr>
            <a:r>
              <a:rPr sz="8234" b="1" i="0">
                <a:solidFill>
                  <a:srgbClr val="FFFFFF"/>
                </a:solidFill>
                <a:latin typeface="DM Sans"/>
              </a:rPr>
              <a:t>8</a:t>
            </a:r>
          </a:p>
        </p:txBody>
      </p:sp>
      <p:pic>
        <p:nvPicPr>
          <p:cNvPr id="27" name="Picture 26" descr="42815534-063a-4986-ba28-a70569c94b18.png"/>
          <p:cNvPicPr>
            <a:picLocks noChangeAspect="1"/>
          </p:cNvPicPr>
          <p:nvPr/>
        </p:nvPicPr>
        <p:blipFill>
          <a:blip r:embed="rId5"/>
          <a:stretch>
            <a:fillRect/>
          </a:stretch>
        </p:blipFill>
        <p:spPr>
          <a:xfrm>
            <a:off x="6322814" y="6024413"/>
            <a:ext cx="1419373" cy="165943"/>
          </a:xfrm>
          <a:prstGeom prst="rect">
            <a:avLst/>
          </a:prstGeom>
        </p:spPr>
      </p:pic>
      <p:sp>
        <p:nvSpPr>
          <p:cNvPr id="28" name="TextBox 27"/>
          <p:cNvSpPr txBox="1"/>
          <p:nvPr/>
        </p:nvSpPr>
        <p:spPr>
          <a:xfrm>
            <a:off x="8001892" y="5031283"/>
            <a:ext cx="2474416" cy="86320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769" b="0" i="0" spc="26">
                <a:solidFill>
                  <a:srgbClr val="FFFFFF"/>
                </a:solidFill>
                <a:latin typeface="DM Sans"/>
              </a:defRPr>
            </a:pPr>
            <a:r>
              <a:rPr sz="1769" b="0" i="0">
                <a:solidFill>
                  <a:srgbClr val="FFFFFF"/>
                </a:solidFill>
                <a:latin typeface="DM Sans"/>
              </a:rPr>
              <a:t>User Storyboarding and 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ea553730-4b94-4a21-9c33-0df0806bfbad.png"/>
          <p:cNvPicPr>
            <a:picLocks noChangeAspect="1"/>
          </p:cNvPicPr>
          <p:nvPr/>
        </p:nvPicPr>
        <p:blipFill>
          <a:blip r:embed="rId3"/>
          <a:stretch>
            <a:fillRect/>
          </a:stretch>
        </p:blipFill>
        <p:spPr>
          <a:xfrm>
            <a:off x="0" y="0"/>
            <a:ext cx="12192000" cy="5516463"/>
          </a:xfrm>
          <a:prstGeom prst="rect">
            <a:avLst/>
          </a:prstGeom>
        </p:spPr>
      </p:pic>
      <p:pic>
        <p:nvPicPr>
          <p:cNvPr id="3" name="Picture 2" descr="8ea28d6c-81f3-4b4b-aad3-906e04b8071d.png"/>
          <p:cNvPicPr>
            <a:picLocks noChangeAspect="1"/>
          </p:cNvPicPr>
          <p:nvPr/>
        </p:nvPicPr>
        <p:blipFill>
          <a:blip r:embed="rId4"/>
          <a:stretch>
            <a:fillRect/>
          </a:stretch>
        </p:blipFill>
        <p:spPr>
          <a:xfrm>
            <a:off x="0" y="0"/>
            <a:ext cx="8655790" cy="6858000"/>
          </a:xfrm>
          <a:prstGeom prst="rect">
            <a:avLst/>
          </a:prstGeom>
        </p:spPr>
      </p:pic>
      <p:pic>
        <p:nvPicPr>
          <p:cNvPr id="4" name="Picture 3" descr="508c0328-402a-4f91-970d-e62f20158442.png"/>
          <p:cNvPicPr>
            <a:picLocks noChangeAspect="1"/>
          </p:cNvPicPr>
          <p:nvPr/>
        </p:nvPicPr>
        <p:blipFill>
          <a:blip r:embed="rId5"/>
          <a:stretch>
            <a:fillRect/>
          </a:stretch>
        </p:blipFill>
        <p:spPr>
          <a:xfrm>
            <a:off x="0" y="0"/>
            <a:ext cx="7199898" cy="6858000"/>
          </a:xfrm>
          <a:prstGeom prst="rect">
            <a:avLst/>
          </a:prstGeom>
        </p:spPr>
      </p:pic>
      <p:pic>
        <p:nvPicPr>
          <p:cNvPr id="5" name="Picture 4" descr="50ed82ce-ba85-43f0-b928-de63b1ceb98e.png"/>
          <p:cNvPicPr>
            <a:picLocks noChangeAspect="1"/>
          </p:cNvPicPr>
          <p:nvPr/>
        </p:nvPicPr>
        <p:blipFill>
          <a:blip r:embed="rId6"/>
          <a:stretch>
            <a:fillRect/>
          </a:stretch>
        </p:blipFill>
        <p:spPr>
          <a:xfrm>
            <a:off x="0" y="2618779"/>
            <a:ext cx="4250233" cy="4239220"/>
          </a:xfrm>
          <a:prstGeom prst="rect">
            <a:avLst/>
          </a:prstGeom>
        </p:spPr>
      </p:pic>
      <p:pic>
        <p:nvPicPr>
          <p:cNvPr id="6" name="Picture 5" descr="8ee05169-6de2-4c32-a8a2-f58add0e853e.png"/>
          <p:cNvPicPr>
            <a:picLocks noChangeAspect="1"/>
          </p:cNvPicPr>
          <p:nvPr/>
        </p:nvPicPr>
        <p:blipFill>
          <a:blip r:embed="rId7"/>
          <a:stretch>
            <a:fillRect/>
          </a:stretch>
        </p:blipFill>
        <p:spPr>
          <a:xfrm>
            <a:off x="0" y="2674590"/>
            <a:ext cx="4183260" cy="4183260"/>
          </a:xfrm>
          <a:prstGeom prst="rect">
            <a:avLst/>
          </a:prstGeom>
        </p:spPr>
      </p:pic>
      <p:sp>
        <p:nvSpPr>
          <p:cNvPr id="7" name="TextBox 6"/>
          <p:cNvSpPr txBox="1"/>
          <p:nvPr/>
        </p:nvSpPr>
        <p:spPr>
          <a:xfrm>
            <a:off x="5326856" y="1938932"/>
            <a:ext cx="5194101" cy="9992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6" b="1" i="1" spc="52">
                <a:solidFill>
                  <a:srgbClr val="FFFFFF"/>
                </a:solidFill>
                <a:latin typeface="Syne"/>
              </a:defRPr>
            </a:pPr>
            <a:r>
              <a:rPr sz="3536" b="1" i="1">
                <a:solidFill>
                  <a:srgbClr val="FFFFFF"/>
                </a:solidFill>
                <a:latin typeface="Playfair Display Bold Italics"/>
              </a:rPr>
              <a:t>Project Background &amp; Client Goals</a:t>
            </a:r>
          </a:p>
        </p:txBody>
      </p:sp>
      <p:sp>
        <p:nvSpPr>
          <p:cNvPr id="8" name="TextBox 7"/>
          <p:cNvSpPr txBox="1"/>
          <p:nvPr/>
        </p:nvSpPr>
        <p:spPr>
          <a:xfrm>
            <a:off x="5333107" y="3246387"/>
            <a:ext cx="5204370" cy="1255365"/>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1466" b="0" i="0" spc="21">
                <a:solidFill>
                  <a:srgbClr val="FFFFFF"/>
                </a:solidFill>
                <a:latin typeface="DM Sans"/>
              </a:defRPr>
            </a:pPr>
            <a:r>
              <a:rPr sz="1466" b="0" i="0">
                <a:solidFill>
                  <a:srgbClr val="FFFFFF"/>
                </a:solidFill>
                <a:latin typeface="DM Sans"/>
              </a:rPr>
              <a:t>SmallBiz Connect aims to build a cost-effective mobile app to boost </a:t>
            </a:r>
            <a:r>
              <a:rPr sz="1466" b="1" i="0">
                <a:solidFill>
                  <a:srgbClr val="FFFFFF"/>
                </a:solidFill>
                <a:latin typeface="DM Sans"/>
              </a:rPr>
              <a:t>employee cybersecurity awareness</a:t>
            </a:r>
            <a:r>
              <a:rPr sz="1466" b="0" i="0">
                <a:solidFill>
                  <a:srgbClr val="FFFFFF"/>
                </a:solidFill>
                <a:latin typeface="DM Sans"/>
              </a:rPr>
              <a:t>. Key focuses include </a:t>
            </a:r>
            <a:r>
              <a:rPr sz="1466" b="1" i="0">
                <a:solidFill>
                  <a:srgbClr val="FFFFFF"/>
                </a:solidFill>
                <a:latin typeface="DM Sans"/>
              </a:rPr>
              <a:t>phishing</a:t>
            </a:r>
            <a:r>
              <a:rPr sz="1466" b="0" i="0">
                <a:solidFill>
                  <a:srgbClr val="FFFFFF"/>
                </a:solidFill>
                <a:latin typeface="DM Sans"/>
              </a:rPr>
              <a:t>, </a:t>
            </a:r>
            <a:r>
              <a:rPr sz="1466" b="1" i="0">
                <a:solidFill>
                  <a:srgbClr val="FFFFFF"/>
                </a:solidFill>
                <a:latin typeface="DM Sans"/>
              </a:rPr>
              <a:t>password security</a:t>
            </a:r>
            <a:r>
              <a:rPr sz="1466" b="0" i="0">
                <a:solidFill>
                  <a:srgbClr val="FFFFFF"/>
                </a:solidFill>
                <a:latin typeface="DM Sans"/>
              </a:rPr>
              <a:t>, </a:t>
            </a:r>
            <a:r>
              <a:rPr sz="1466" b="1" i="0">
                <a:solidFill>
                  <a:srgbClr val="FFFFFF"/>
                </a:solidFill>
                <a:latin typeface="DM Sans"/>
              </a:rPr>
              <a:t>malware</a:t>
            </a:r>
            <a:r>
              <a:rPr sz="1466" b="0" i="0">
                <a:solidFill>
                  <a:srgbClr val="FFFFFF"/>
                </a:solidFill>
                <a:latin typeface="DM Sans"/>
              </a:rPr>
              <a:t>, and </a:t>
            </a:r>
            <a:r>
              <a:rPr sz="1466" b="1" i="0">
                <a:solidFill>
                  <a:srgbClr val="FFFFFF"/>
                </a:solidFill>
                <a:latin typeface="DM Sans"/>
              </a:rPr>
              <a:t>multi-factor authentication</a:t>
            </a:r>
            <a:r>
              <a:rPr sz="1466" b="0" i="0">
                <a:solidFill>
                  <a:srgbClr val="FFFFFF"/>
                </a:solidFill>
                <a:latin typeface="DM San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0e97ca46-254a-4cb3-9fa3-ffca21c628c4.png"/>
          <p:cNvPicPr>
            <a:picLocks noChangeAspect="1"/>
          </p:cNvPicPr>
          <p:nvPr/>
        </p:nvPicPr>
        <p:blipFill>
          <a:blip r:embed="rId4"/>
          <a:stretch>
            <a:fillRect/>
          </a:stretch>
        </p:blipFill>
        <p:spPr>
          <a:xfrm>
            <a:off x="0" y="328824"/>
            <a:ext cx="9175451" cy="6529175"/>
          </a:xfrm>
          <a:prstGeom prst="rect">
            <a:avLst/>
          </a:prstGeom>
        </p:spPr>
      </p:pic>
      <p:sp>
        <p:nvSpPr>
          <p:cNvPr id="4" name="TextBox 3"/>
          <p:cNvSpPr txBox="1"/>
          <p:nvPr/>
        </p:nvSpPr>
        <p:spPr>
          <a:xfrm>
            <a:off x="762000" y="783282"/>
            <a:ext cx="10322123"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Cybersecurity Training Challenges</a:t>
            </a:r>
          </a:p>
        </p:txBody>
      </p:sp>
      <p:sp>
        <p:nvSpPr>
          <p:cNvPr id="5" name="TextBox 4"/>
          <p:cNvSpPr txBox="1"/>
          <p:nvPr/>
        </p:nvSpPr>
        <p:spPr>
          <a:xfrm>
            <a:off x="762000" y="2427386"/>
            <a:ext cx="5024883" cy="19838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DM Sans"/>
              </a:defRPr>
            </a:pPr>
            <a:r>
              <a:rPr sz="1335" b="1" i="0">
                <a:solidFill>
                  <a:srgbClr val="FFFFFF"/>
                </a:solidFill>
                <a:latin typeface="DM Sans"/>
              </a:rPr>
              <a:t>Prohibitive Implementation Costs</a:t>
            </a:r>
          </a:p>
        </p:txBody>
      </p:sp>
      <p:sp>
        <p:nvSpPr>
          <p:cNvPr id="6" name="TextBox 5"/>
          <p:cNvSpPr txBox="1"/>
          <p:nvPr/>
        </p:nvSpPr>
        <p:spPr>
          <a:xfrm>
            <a:off x="762000" y="2657623"/>
            <a:ext cx="4893915" cy="454074"/>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69" b="0" i="0" spc="18">
                <a:solidFill>
                  <a:srgbClr val="FFFFFF"/>
                </a:solidFill>
                <a:latin typeface="DM Sans"/>
              </a:defRPr>
            </a:pPr>
            <a:r>
              <a:rPr sz="1269" b="0" i="0">
                <a:solidFill>
                  <a:srgbClr val="FFFFFF"/>
                </a:solidFill>
                <a:latin typeface="DM Sans"/>
              </a:rPr>
              <a:t>Small businesses often struggle with </a:t>
            </a:r>
            <a:r>
              <a:rPr sz="1269" b="1" i="0">
                <a:solidFill>
                  <a:srgbClr val="FFFFFF"/>
                </a:solidFill>
                <a:latin typeface="DM Sans"/>
              </a:rPr>
              <a:t>high costs</a:t>
            </a:r>
            <a:r>
              <a:rPr sz="1269" b="0" i="0">
                <a:solidFill>
                  <a:srgbClr val="FFFFFF"/>
                </a:solidFill>
                <a:latin typeface="DM Sans"/>
              </a:rPr>
              <a:t> associated with enterprise security training.</a:t>
            </a:r>
          </a:p>
        </p:txBody>
      </p:sp>
      <p:sp>
        <p:nvSpPr>
          <p:cNvPr id="7" name="Rectangle 6"/>
          <p:cNvSpPr/>
          <p:nvPr/>
        </p:nvSpPr>
        <p:spPr>
          <a:xfrm>
            <a:off x="762000" y="3180457"/>
            <a:ext cx="5039320" cy="12650"/>
          </a:xfrm>
          <a:prstGeom prst="rect">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762000" y="3574107"/>
            <a:ext cx="5024883" cy="19838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DM Sans"/>
              </a:defRPr>
            </a:pPr>
            <a:r>
              <a:rPr sz="1335" b="1" i="0">
                <a:solidFill>
                  <a:srgbClr val="FFFFFF"/>
                </a:solidFill>
                <a:latin typeface="DM Sans"/>
              </a:rPr>
              <a:t>Generic and Impersonal Content</a:t>
            </a:r>
          </a:p>
        </p:txBody>
      </p:sp>
      <p:sp>
        <p:nvSpPr>
          <p:cNvPr id="9" name="TextBox 8"/>
          <p:cNvSpPr txBox="1"/>
          <p:nvPr/>
        </p:nvSpPr>
        <p:spPr>
          <a:xfrm>
            <a:off x="762000" y="3804344"/>
            <a:ext cx="4893915" cy="454074"/>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69" b="0" i="0" spc="18">
                <a:solidFill>
                  <a:srgbClr val="FFFFFF"/>
                </a:solidFill>
                <a:latin typeface="DM Sans"/>
              </a:defRPr>
            </a:pPr>
            <a:r>
              <a:rPr sz="1269" b="0" i="0">
                <a:solidFill>
                  <a:srgbClr val="FFFFFF"/>
                </a:solidFill>
                <a:latin typeface="DM Sans"/>
              </a:rPr>
              <a:t>Current tools lack </a:t>
            </a:r>
            <a:r>
              <a:rPr sz="1269" b="1" i="0">
                <a:solidFill>
                  <a:srgbClr val="FFFFFF"/>
                </a:solidFill>
                <a:latin typeface="DM Sans"/>
              </a:rPr>
              <a:t>individual risk tracking</a:t>
            </a:r>
            <a:r>
              <a:rPr sz="1269" b="0" i="0">
                <a:solidFill>
                  <a:srgbClr val="FFFFFF"/>
                </a:solidFill>
                <a:latin typeface="DM Sans"/>
              </a:rPr>
              <a:t>, providing one-size-fits-all training modules.</a:t>
            </a:r>
          </a:p>
        </p:txBody>
      </p:sp>
      <p:sp>
        <p:nvSpPr>
          <p:cNvPr id="10" name="Rectangle 9"/>
          <p:cNvSpPr/>
          <p:nvPr/>
        </p:nvSpPr>
        <p:spPr>
          <a:xfrm>
            <a:off x="762000" y="4327177"/>
            <a:ext cx="5039320" cy="12650"/>
          </a:xfrm>
          <a:prstGeom prst="rect">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762000" y="4720828"/>
            <a:ext cx="5024883" cy="19838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DM Sans"/>
              </a:defRPr>
            </a:pPr>
            <a:r>
              <a:rPr sz="1335" b="1" i="0">
                <a:solidFill>
                  <a:srgbClr val="FFFFFF"/>
                </a:solidFill>
                <a:latin typeface="DM Sans"/>
              </a:rPr>
              <a:t>Inadequate Real-Time Monitoring</a:t>
            </a:r>
          </a:p>
        </p:txBody>
      </p:sp>
      <p:sp>
        <p:nvSpPr>
          <p:cNvPr id="12" name="TextBox 11"/>
          <p:cNvSpPr txBox="1"/>
          <p:nvPr/>
        </p:nvSpPr>
        <p:spPr>
          <a:xfrm>
            <a:off x="762000" y="4951065"/>
            <a:ext cx="4893915" cy="454074"/>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69" b="0" i="0" spc="18">
                <a:solidFill>
                  <a:srgbClr val="FFFFFF"/>
                </a:solidFill>
                <a:latin typeface="DM Sans"/>
              </a:defRPr>
            </a:pPr>
            <a:r>
              <a:rPr sz="1269" b="0" i="0">
                <a:solidFill>
                  <a:srgbClr val="FFFFFF"/>
                </a:solidFill>
                <a:latin typeface="DM Sans"/>
              </a:rPr>
              <a:t>Managers lack </a:t>
            </a:r>
            <a:r>
              <a:rPr sz="1269" b="1" i="0">
                <a:solidFill>
                  <a:srgbClr val="FFFFFF"/>
                </a:solidFill>
                <a:latin typeface="DM Sans"/>
              </a:rPr>
              <a:t>visibility into risk levels</a:t>
            </a:r>
            <a:r>
              <a:rPr sz="1269" b="0" i="0">
                <a:solidFill>
                  <a:srgbClr val="FFFFFF"/>
                </a:solidFill>
                <a:latin typeface="DM Sans"/>
              </a:rPr>
              <a:t>, making it difficult to monitor security posture.</a:t>
            </a:r>
          </a:p>
        </p:txBody>
      </p:sp>
      <p:sp>
        <p:nvSpPr>
          <p:cNvPr id="13" name="Rectangle 12"/>
          <p:cNvSpPr/>
          <p:nvPr/>
        </p:nvSpPr>
        <p:spPr>
          <a:xfrm>
            <a:off x="762000" y="5473898"/>
            <a:ext cx="5039320" cy="12650"/>
          </a:xfrm>
          <a:prstGeom prst="rect">
            <a:avLst/>
          </a:prstGeom>
          <a:solidFill>
            <a:srgbClr val="FFFFF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pic>
        <p:nvPicPr>
          <p:cNvPr id="14" name="Picture 13" descr="eac344b8-386b-4adc-ae38-9a9152067b04.png"/>
          <p:cNvPicPr>
            <a:picLocks noChangeAspect="1"/>
          </p:cNvPicPr>
          <p:nvPr/>
        </p:nvPicPr>
        <p:blipFill>
          <a:blip r:embed="rId5"/>
          <a:stretch>
            <a:fillRect/>
          </a:stretch>
        </p:blipFill>
        <p:spPr>
          <a:xfrm>
            <a:off x="6708130" y="1797248"/>
            <a:ext cx="4522142" cy="42933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c306703c-76e0-4538-bab2-84b41a1e7e5c.png"/>
          <p:cNvPicPr>
            <a:picLocks noChangeAspect="1"/>
          </p:cNvPicPr>
          <p:nvPr/>
        </p:nvPicPr>
        <p:blipFill>
          <a:blip r:embed="rId4"/>
          <a:stretch>
            <a:fillRect/>
          </a:stretch>
        </p:blipFill>
        <p:spPr>
          <a:xfrm>
            <a:off x="0" y="328824"/>
            <a:ext cx="9175451" cy="6529175"/>
          </a:xfrm>
          <a:prstGeom prst="rect">
            <a:avLst/>
          </a:prstGeom>
        </p:spPr>
      </p:pic>
      <p:sp>
        <p:nvSpPr>
          <p:cNvPr id="4" name="TextBox 3"/>
          <p:cNvSpPr txBox="1"/>
          <p:nvPr/>
        </p:nvSpPr>
        <p:spPr>
          <a:xfrm>
            <a:off x="753070" y="892968"/>
            <a:ext cx="6196905"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Backlog &amp; User Stories</a:t>
            </a:r>
          </a:p>
        </p:txBody>
      </p:sp>
      <p:sp>
        <p:nvSpPr>
          <p:cNvPr id="5" name="TextBox 4"/>
          <p:cNvSpPr txBox="1"/>
          <p:nvPr/>
        </p:nvSpPr>
        <p:spPr>
          <a:xfrm>
            <a:off x="771078" y="1652289"/>
            <a:ext cx="6138564" cy="109016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Our </a:t>
            </a:r>
            <a:r>
              <a:rPr sz="1269" b="1" i="0">
                <a:solidFill>
                  <a:srgbClr val="FFFFFF"/>
                </a:solidFill>
                <a:latin typeface="DM Sans"/>
              </a:rPr>
              <a:t>development roadmap</a:t>
            </a:r>
            <a:r>
              <a:rPr sz="1269" b="0" i="0">
                <a:solidFill>
                  <a:srgbClr val="FFFFFF"/>
                </a:solidFill>
                <a:latin typeface="DM Sans"/>
              </a:rPr>
              <a:t> prioritizes essential </a:t>
            </a:r>
            <a:r>
              <a:rPr sz="1269" b="1" i="0">
                <a:solidFill>
                  <a:srgbClr val="FFFFFF"/>
                </a:solidFill>
                <a:latin typeface="DM Sans"/>
              </a:rPr>
              <a:t>user engagement</a:t>
            </a:r>
            <a:r>
              <a:rPr sz="1269" b="0" i="0">
                <a:solidFill>
                  <a:srgbClr val="FFFFFF"/>
                </a:solidFill>
                <a:latin typeface="DM Sans"/>
              </a:rPr>
              <a:t> features and </a:t>
            </a:r>
            <a:r>
              <a:rPr sz="1269" b="1" i="0">
                <a:solidFill>
                  <a:srgbClr val="FFFFFF"/>
                </a:solidFill>
                <a:latin typeface="DM Sans"/>
              </a:rPr>
              <a:t>security protocols</a:t>
            </a:r>
            <a:r>
              <a:rPr sz="1269" b="0" i="0">
                <a:solidFill>
                  <a:srgbClr val="FFFFFF"/>
                </a:solidFill>
                <a:latin typeface="DM Sans"/>
              </a:rPr>
              <a:t>, ensuring a robust framework for assessment functionality and administrative oversight.</a:t>
            </a:r>
          </a:p>
        </p:txBody>
      </p:sp>
      <p:pic>
        <p:nvPicPr>
          <p:cNvPr id="6" name="Picture 5" descr="f2fce832-9315-428a-b638-573d08adc09a.png"/>
          <p:cNvPicPr>
            <a:picLocks noChangeAspect="1"/>
          </p:cNvPicPr>
          <p:nvPr/>
        </p:nvPicPr>
        <p:blipFill>
          <a:blip r:embed="rId5"/>
          <a:stretch>
            <a:fillRect/>
          </a:stretch>
        </p:blipFill>
        <p:spPr>
          <a:xfrm>
            <a:off x="7885509" y="924520"/>
            <a:ext cx="3528566" cy="5310931"/>
          </a:xfrm>
          <a:prstGeom prst="rect">
            <a:avLst/>
          </a:prstGeom>
        </p:spPr>
      </p:pic>
      <p:pic>
        <p:nvPicPr>
          <p:cNvPr id="7" name="Picture 6" descr="84613082-f122-413c-9692-2890adbe8f15.png"/>
          <p:cNvPicPr>
            <a:picLocks noChangeAspect="1"/>
          </p:cNvPicPr>
          <p:nvPr/>
        </p:nvPicPr>
        <p:blipFill>
          <a:blip r:embed="rId6"/>
          <a:stretch>
            <a:fillRect/>
          </a:stretch>
        </p:blipFill>
        <p:spPr>
          <a:xfrm>
            <a:off x="7822108" y="861119"/>
            <a:ext cx="3528566" cy="5310931"/>
          </a:xfrm>
          <a:prstGeom prst="rect">
            <a:avLst/>
          </a:prstGeom>
        </p:spPr>
      </p:pic>
      <p:pic>
        <p:nvPicPr>
          <p:cNvPr id="8" name="Picture 7" descr="ddc3b9e6-319e-472b-ad52-0db5824e8448.png"/>
          <p:cNvPicPr>
            <a:picLocks noChangeAspect="1"/>
          </p:cNvPicPr>
          <p:nvPr/>
        </p:nvPicPr>
        <p:blipFill>
          <a:blip r:embed="rId7"/>
          <a:stretch>
            <a:fillRect/>
          </a:stretch>
        </p:blipFill>
        <p:spPr>
          <a:xfrm>
            <a:off x="745033" y="4325094"/>
            <a:ext cx="2963465" cy="891778"/>
          </a:xfrm>
          <a:prstGeom prst="rect">
            <a:avLst/>
          </a:prstGeom>
        </p:spPr>
      </p:pic>
      <p:sp>
        <p:nvSpPr>
          <p:cNvPr id="9" name="TextBox 8"/>
          <p:cNvSpPr txBox="1"/>
          <p:nvPr/>
        </p:nvSpPr>
        <p:spPr>
          <a:xfrm>
            <a:off x="858589" y="4548931"/>
            <a:ext cx="2181969" cy="487412"/>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Secure Login</a:t>
            </a:r>
            <a:r>
              <a:rPr sz="1269" b="0" i="0">
                <a:solidFill>
                  <a:srgbClr val="FFFFFF"/>
                </a:solidFill>
                <a:latin typeface="DM Sans"/>
              </a:rPr>
              <a:t> protects user data privacy.</a:t>
            </a:r>
          </a:p>
        </p:txBody>
      </p:sp>
      <p:pic>
        <p:nvPicPr>
          <p:cNvPr id="10" name="Picture 9" descr="69ae1692-0a06-4eab-b3da-8726eb0a5795.png"/>
          <p:cNvPicPr>
            <a:picLocks noChangeAspect="1"/>
          </p:cNvPicPr>
          <p:nvPr/>
        </p:nvPicPr>
        <p:blipFill>
          <a:blip r:embed="rId8"/>
          <a:stretch>
            <a:fillRect/>
          </a:stretch>
        </p:blipFill>
        <p:spPr>
          <a:xfrm>
            <a:off x="3138933" y="4570214"/>
            <a:ext cx="454967" cy="468510"/>
          </a:xfrm>
          <a:prstGeom prst="rect">
            <a:avLst/>
          </a:prstGeom>
        </p:spPr>
      </p:pic>
      <p:pic>
        <p:nvPicPr>
          <p:cNvPr id="11" name="Picture 10" descr="ddc3b9e6-319e-472b-ad52-0db5824e8448.png"/>
          <p:cNvPicPr>
            <a:picLocks noChangeAspect="1"/>
          </p:cNvPicPr>
          <p:nvPr/>
        </p:nvPicPr>
        <p:blipFill>
          <a:blip r:embed="rId7"/>
          <a:stretch>
            <a:fillRect/>
          </a:stretch>
        </p:blipFill>
        <p:spPr>
          <a:xfrm>
            <a:off x="3760886" y="4325094"/>
            <a:ext cx="2963465" cy="891778"/>
          </a:xfrm>
          <a:prstGeom prst="rect">
            <a:avLst/>
          </a:prstGeom>
        </p:spPr>
      </p:pic>
      <p:sp>
        <p:nvSpPr>
          <p:cNvPr id="12" name="TextBox 11"/>
          <p:cNvSpPr txBox="1"/>
          <p:nvPr/>
        </p:nvSpPr>
        <p:spPr>
          <a:xfrm>
            <a:off x="3874442" y="4548931"/>
            <a:ext cx="2181969" cy="487412"/>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Training Modules</a:t>
            </a:r>
            <a:r>
              <a:rPr sz="1269" b="0" i="0">
                <a:solidFill>
                  <a:srgbClr val="FFFFFF"/>
                </a:solidFill>
                <a:latin typeface="DM Sans"/>
              </a:rPr>
              <a:t> boost user awareness.</a:t>
            </a:r>
          </a:p>
        </p:txBody>
      </p:sp>
      <p:pic>
        <p:nvPicPr>
          <p:cNvPr id="13" name="Picture 12" descr="4cdbc06c-3370-4d14-9196-eac36bf0be07.png"/>
          <p:cNvPicPr>
            <a:picLocks noChangeAspect="1"/>
          </p:cNvPicPr>
          <p:nvPr/>
        </p:nvPicPr>
        <p:blipFill>
          <a:blip r:embed="rId9"/>
          <a:stretch>
            <a:fillRect/>
          </a:stretch>
        </p:blipFill>
        <p:spPr>
          <a:xfrm>
            <a:off x="6154787" y="4570214"/>
            <a:ext cx="454967" cy="468510"/>
          </a:xfrm>
          <a:prstGeom prst="rect">
            <a:avLst/>
          </a:prstGeom>
        </p:spPr>
      </p:pic>
      <p:pic>
        <p:nvPicPr>
          <p:cNvPr id="14" name="Picture 13" descr="97db2fb5-2d6c-48f4-8078-a0c21135dc37.png"/>
          <p:cNvPicPr>
            <a:picLocks noChangeAspect="1"/>
          </p:cNvPicPr>
          <p:nvPr/>
        </p:nvPicPr>
        <p:blipFill>
          <a:blip r:embed="rId10"/>
          <a:stretch>
            <a:fillRect/>
          </a:stretch>
        </p:blipFill>
        <p:spPr>
          <a:xfrm>
            <a:off x="745033" y="5280124"/>
            <a:ext cx="1957387" cy="891778"/>
          </a:xfrm>
          <a:prstGeom prst="rect">
            <a:avLst/>
          </a:prstGeom>
        </p:spPr>
      </p:pic>
      <p:sp>
        <p:nvSpPr>
          <p:cNvPr id="15" name="TextBox 14"/>
          <p:cNvSpPr txBox="1"/>
          <p:nvPr/>
        </p:nvSpPr>
        <p:spPr>
          <a:xfrm>
            <a:off x="840432" y="5526881"/>
            <a:ext cx="1286619" cy="434875"/>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Risk Profile Scoring</a:t>
            </a:r>
          </a:p>
        </p:txBody>
      </p:sp>
      <p:pic>
        <p:nvPicPr>
          <p:cNvPr id="16" name="Picture 15" descr="39cab377-36a6-4b80-8a19-f7db4fac7772.png"/>
          <p:cNvPicPr>
            <a:picLocks noChangeAspect="1"/>
          </p:cNvPicPr>
          <p:nvPr/>
        </p:nvPicPr>
        <p:blipFill>
          <a:blip r:embed="rId11"/>
          <a:stretch>
            <a:fillRect/>
          </a:stretch>
        </p:blipFill>
        <p:spPr>
          <a:xfrm>
            <a:off x="2148333" y="5535513"/>
            <a:ext cx="455562" cy="470148"/>
          </a:xfrm>
          <a:prstGeom prst="rect">
            <a:avLst/>
          </a:prstGeom>
        </p:spPr>
      </p:pic>
      <p:pic>
        <p:nvPicPr>
          <p:cNvPr id="17" name="Picture 16" descr="97db2fb5-2d6c-48f4-8078-a0c21135dc37.png"/>
          <p:cNvPicPr>
            <a:picLocks noChangeAspect="1"/>
          </p:cNvPicPr>
          <p:nvPr/>
        </p:nvPicPr>
        <p:blipFill>
          <a:blip r:embed="rId10"/>
          <a:stretch>
            <a:fillRect/>
          </a:stretch>
        </p:blipFill>
        <p:spPr>
          <a:xfrm>
            <a:off x="2764333" y="5280124"/>
            <a:ext cx="1957387" cy="891778"/>
          </a:xfrm>
          <a:prstGeom prst="rect">
            <a:avLst/>
          </a:prstGeom>
        </p:spPr>
      </p:pic>
      <p:sp>
        <p:nvSpPr>
          <p:cNvPr id="18" name="TextBox 17"/>
          <p:cNvSpPr txBox="1"/>
          <p:nvPr/>
        </p:nvSpPr>
        <p:spPr>
          <a:xfrm>
            <a:off x="2859732" y="5526881"/>
            <a:ext cx="1286619" cy="434875"/>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Admin Oversight Tools</a:t>
            </a:r>
          </a:p>
        </p:txBody>
      </p:sp>
      <p:pic>
        <p:nvPicPr>
          <p:cNvPr id="19" name="Picture 18" descr="eb55eab5-8ecf-4899-9d95-ed6616bc3fd3.png"/>
          <p:cNvPicPr>
            <a:picLocks noChangeAspect="1"/>
          </p:cNvPicPr>
          <p:nvPr/>
        </p:nvPicPr>
        <p:blipFill>
          <a:blip r:embed="rId12"/>
          <a:stretch>
            <a:fillRect/>
          </a:stretch>
        </p:blipFill>
        <p:spPr>
          <a:xfrm>
            <a:off x="4167633" y="5535513"/>
            <a:ext cx="455562" cy="470148"/>
          </a:xfrm>
          <a:prstGeom prst="rect">
            <a:avLst/>
          </a:prstGeom>
        </p:spPr>
      </p:pic>
      <p:pic>
        <p:nvPicPr>
          <p:cNvPr id="20" name="Picture 19" descr="97db2fb5-2d6c-48f4-8078-a0c21135dc37.png"/>
          <p:cNvPicPr>
            <a:picLocks noChangeAspect="1"/>
          </p:cNvPicPr>
          <p:nvPr/>
        </p:nvPicPr>
        <p:blipFill>
          <a:blip r:embed="rId10"/>
          <a:stretch>
            <a:fillRect/>
          </a:stretch>
        </p:blipFill>
        <p:spPr>
          <a:xfrm>
            <a:off x="4783633" y="5280124"/>
            <a:ext cx="1957387" cy="891778"/>
          </a:xfrm>
          <a:prstGeom prst="rect">
            <a:avLst/>
          </a:prstGeom>
        </p:spPr>
      </p:pic>
      <p:sp>
        <p:nvSpPr>
          <p:cNvPr id="21" name="TextBox 20"/>
          <p:cNvSpPr txBox="1"/>
          <p:nvPr/>
        </p:nvSpPr>
        <p:spPr>
          <a:xfrm>
            <a:off x="4879032" y="5526881"/>
            <a:ext cx="1286619" cy="434875"/>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Agile Prioritization</a:t>
            </a:r>
          </a:p>
        </p:txBody>
      </p:sp>
      <p:pic>
        <p:nvPicPr>
          <p:cNvPr id="22" name="Picture 21" descr="238b1800-7073-42bd-a7b0-1ffbd34b8bf4.png"/>
          <p:cNvPicPr>
            <a:picLocks noChangeAspect="1"/>
          </p:cNvPicPr>
          <p:nvPr/>
        </p:nvPicPr>
        <p:blipFill>
          <a:blip r:embed="rId13"/>
          <a:stretch>
            <a:fillRect/>
          </a:stretch>
        </p:blipFill>
        <p:spPr>
          <a:xfrm>
            <a:off x="6186933" y="5535513"/>
            <a:ext cx="455562" cy="4701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3821e28c-8d86-44b1-b794-f0146c9eb0a0.png"/>
          <p:cNvPicPr>
            <a:picLocks noChangeAspect="1"/>
          </p:cNvPicPr>
          <p:nvPr/>
        </p:nvPicPr>
        <p:blipFill>
          <a:blip r:embed="rId4"/>
          <a:stretch>
            <a:fillRect/>
          </a:stretch>
        </p:blipFill>
        <p:spPr>
          <a:xfrm>
            <a:off x="16918" y="328825"/>
            <a:ext cx="9175451" cy="6529175"/>
          </a:xfrm>
          <a:prstGeom prst="rect">
            <a:avLst/>
          </a:prstGeom>
        </p:spPr>
      </p:pic>
      <p:pic>
        <p:nvPicPr>
          <p:cNvPr id="4" name="Picture 3" descr="5523b05e-8594-4824-ac96-1348360a133f.png"/>
          <p:cNvPicPr>
            <a:picLocks noChangeAspect="1"/>
          </p:cNvPicPr>
          <p:nvPr/>
        </p:nvPicPr>
        <p:blipFill>
          <a:blip r:embed="rId5"/>
          <a:stretch>
            <a:fillRect/>
          </a:stretch>
        </p:blipFill>
        <p:spPr>
          <a:xfrm>
            <a:off x="324426" y="3624923"/>
            <a:ext cx="10992742" cy="3225254"/>
          </a:xfrm>
          <a:prstGeom prst="rect">
            <a:avLst/>
          </a:prstGeom>
        </p:spPr>
      </p:pic>
      <p:sp>
        <p:nvSpPr>
          <p:cNvPr id="5" name="TextBox 4"/>
          <p:cNvSpPr txBox="1"/>
          <p:nvPr/>
        </p:nvSpPr>
        <p:spPr>
          <a:xfrm>
            <a:off x="762000" y="891480"/>
            <a:ext cx="6229350"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Roadmap &amp; Sprint Planning</a:t>
            </a:r>
          </a:p>
        </p:txBody>
      </p:sp>
      <p:sp>
        <p:nvSpPr>
          <p:cNvPr id="6" name="TextBox 5"/>
          <p:cNvSpPr txBox="1"/>
          <p:nvPr/>
        </p:nvSpPr>
        <p:spPr>
          <a:xfrm>
            <a:off x="1148530" y="2277303"/>
            <a:ext cx="1381571"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a:solidFill>
                  <a:srgbClr val="FFFFFF"/>
                </a:solidFill>
                <a:latin typeface="DM Sans"/>
              </a:rPr>
              <a:t>Week 3-4</a:t>
            </a:r>
          </a:p>
        </p:txBody>
      </p:sp>
      <p:sp>
        <p:nvSpPr>
          <p:cNvPr id="7" name="TextBox 6"/>
          <p:cNvSpPr txBox="1"/>
          <p:nvPr/>
        </p:nvSpPr>
        <p:spPr>
          <a:xfrm>
            <a:off x="1161627" y="2520042"/>
            <a:ext cx="1538733" cy="5348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a:solidFill>
                  <a:srgbClr val="B9C0CA"/>
                </a:solidFill>
                <a:latin typeface="DM Sans"/>
              </a:rPr>
              <a:t>Building</a:t>
            </a:r>
            <a:r>
              <a:rPr sz="1203" b="0" i="0">
                <a:solidFill>
                  <a:srgbClr val="B9C0CA"/>
                </a:solidFill>
                <a:latin typeface="DM Sans"/>
              </a:rPr>
              <a:t> the core foundation</a:t>
            </a:r>
          </a:p>
        </p:txBody>
      </p:sp>
      <p:pic>
        <p:nvPicPr>
          <p:cNvPr id="8" name="Picture 7" descr="22462c1c-7d0e-4a9d-b710-11594176c4fc.png"/>
          <p:cNvPicPr>
            <a:picLocks noChangeAspect="1"/>
          </p:cNvPicPr>
          <p:nvPr/>
        </p:nvPicPr>
        <p:blipFill>
          <a:blip r:embed="rId6"/>
          <a:stretch>
            <a:fillRect/>
          </a:stretch>
        </p:blipFill>
        <p:spPr>
          <a:xfrm>
            <a:off x="1735806" y="3168188"/>
            <a:ext cx="25300" cy="2475607"/>
          </a:xfrm>
          <a:prstGeom prst="rect">
            <a:avLst/>
          </a:prstGeom>
        </p:spPr>
      </p:pic>
      <p:pic>
        <p:nvPicPr>
          <p:cNvPr id="9" name="Picture 8" descr="07dbabc7-8796-49ef-b70d-5b8e4bc7790c.png"/>
          <p:cNvPicPr>
            <a:picLocks noChangeAspect="1"/>
          </p:cNvPicPr>
          <p:nvPr/>
        </p:nvPicPr>
        <p:blipFill>
          <a:blip r:embed="rId7"/>
          <a:stretch>
            <a:fillRect/>
          </a:stretch>
        </p:blipFill>
        <p:spPr>
          <a:xfrm>
            <a:off x="1399305" y="5245978"/>
            <a:ext cx="657373" cy="564802"/>
          </a:xfrm>
          <a:prstGeom prst="rect">
            <a:avLst/>
          </a:prstGeom>
        </p:spPr>
      </p:pic>
      <p:pic>
        <p:nvPicPr>
          <p:cNvPr id="10" name="Picture 9" descr="d30f4169-4d23-4356-827e-215d04002e0a.png"/>
          <p:cNvPicPr>
            <a:picLocks noChangeAspect="1"/>
          </p:cNvPicPr>
          <p:nvPr/>
        </p:nvPicPr>
        <p:blipFill>
          <a:blip r:embed="rId8"/>
          <a:stretch>
            <a:fillRect/>
          </a:stretch>
        </p:blipFill>
        <p:spPr>
          <a:xfrm>
            <a:off x="1542329" y="5355069"/>
            <a:ext cx="371177" cy="381595"/>
          </a:xfrm>
          <a:prstGeom prst="rect">
            <a:avLst/>
          </a:prstGeom>
        </p:spPr>
      </p:pic>
      <p:sp>
        <p:nvSpPr>
          <p:cNvPr id="11" name="TextBox 10"/>
          <p:cNvSpPr txBox="1"/>
          <p:nvPr/>
        </p:nvSpPr>
        <p:spPr>
          <a:xfrm>
            <a:off x="1481905" y="5899333"/>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a:solidFill>
                  <a:srgbClr val="FFFFFF"/>
                </a:solidFill>
                <a:latin typeface="DM Sans"/>
              </a:rPr>
              <a:t>SPR1</a:t>
            </a:r>
          </a:p>
        </p:txBody>
      </p:sp>
      <p:sp>
        <p:nvSpPr>
          <p:cNvPr id="12" name="TextBox 11"/>
          <p:cNvSpPr txBox="1"/>
          <p:nvPr/>
        </p:nvSpPr>
        <p:spPr>
          <a:xfrm>
            <a:off x="4306769" y="2305462"/>
            <a:ext cx="1357312"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a:solidFill>
                  <a:srgbClr val="FFFFFF"/>
                </a:solidFill>
                <a:latin typeface="DM Sans"/>
              </a:rPr>
              <a:t>Week 5</a:t>
            </a:r>
          </a:p>
        </p:txBody>
      </p:sp>
      <p:sp>
        <p:nvSpPr>
          <p:cNvPr id="13" name="TextBox 12"/>
          <p:cNvSpPr txBox="1"/>
          <p:nvPr/>
        </p:nvSpPr>
        <p:spPr>
          <a:xfrm>
            <a:off x="4319866" y="2548200"/>
            <a:ext cx="1500931" cy="5348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a:solidFill>
                  <a:srgbClr val="B9C0CA"/>
                </a:solidFill>
                <a:latin typeface="DM Sans"/>
              </a:rPr>
              <a:t>Developing</a:t>
            </a:r>
            <a:r>
              <a:rPr sz="1203" b="0" i="0">
                <a:solidFill>
                  <a:srgbClr val="B9C0CA"/>
                </a:solidFill>
                <a:latin typeface="DM Sans"/>
              </a:rPr>
              <a:t> interactive quizzes</a:t>
            </a:r>
          </a:p>
        </p:txBody>
      </p:sp>
      <p:pic>
        <p:nvPicPr>
          <p:cNvPr id="14" name="Picture 13" descr="f2c030e7-e695-4d3f-9aec-0ef39ab0d886.png"/>
          <p:cNvPicPr>
            <a:picLocks noChangeAspect="1"/>
          </p:cNvPicPr>
          <p:nvPr/>
        </p:nvPicPr>
        <p:blipFill>
          <a:blip r:embed="rId9"/>
          <a:stretch>
            <a:fillRect/>
          </a:stretch>
        </p:blipFill>
        <p:spPr>
          <a:xfrm>
            <a:off x="4733459" y="3174320"/>
            <a:ext cx="25300" cy="2475607"/>
          </a:xfrm>
          <a:prstGeom prst="rect">
            <a:avLst/>
          </a:prstGeom>
        </p:spPr>
      </p:pic>
      <p:pic>
        <p:nvPicPr>
          <p:cNvPr id="15" name="Picture 14" descr="07dbabc7-8796-49ef-b70d-5b8e4bc7790c.png"/>
          <p:cNvPicPr>
            <a:picLocks noChangeAspect="1"/>
          </p:cNvPicPr>
          <p:nvPr/>
        </p:nvPicPr>
        <p:blipFill>
          <a:blip r:embed="rId7"/>
          <a:stretch>
            <a:fillRect/>
          </a:stretch>
        </p:blipFill>
        <p:spPr>
          <a:xfrm>
            <a:off x="4396959" y="5258361"/>
            <a:ext cx="657373" cy="564802"/>
          </a:xfrm>
          <a:prstGeom prst="rect">
            <a:avLst/>
          </a:prstGeom>
        </p:spPr>
      </p:pic>
      <p:pic>
        <p:nvPicPr>
          <p:cNvPr id="16" name="Picture 15" descr="bfaaac3b-bc31-4330-84f4-f97dbe89e024.png"/>
          <p:cNvPicPr>
            <a:picLocks noChangeAspect="1"/>
          </p:cNvPicPr>
          <p:nvPr/>
        </p:nvPicPr>
        <p:blipFill>
          <a:blip r:embed="rId10"/>
          <a:stretch>
            <a:fillRect/>
          </a:stretch>
        </p:blipFill>
        <p:spPr>
          <a:xfrm>
            <a:off x="4525844" y="5368642"/>
            <a:ext cx="373260" cy="356889"/>
          </a:xfrm>
          <a:prstGeom prst="rect">
            <a:avLst/>
          </a:prstGeom>
        </p:spPr>
      </p:pic>
      <p:sp>
        <p:nvSpPr>
          <p:cNvPr id="17" name="TextBox 16"/>
          <p:cNvSpPr txBox="1"/>
          <p:nvPr/>
        </p:nvSpPr>
        <p:spPr>
          <a:xfrm>
            <a:off x="4492655" y="5884927"/>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a:solidFill>
                  <a:srgbClr val="FFFFFF"/>
                </a:solidFill>
                <a:latin typeface="DM Sans"/>
              </a:rPr>
              <a:t>SPR2</a:t>
            </a:r>
          </a:p>
        </p:txBody>
      </p:sp>
      <p:sp>
        <p:nvSpPr>
          <p:cNvPr id="18" name="TextBox 17"/>
          <p:cNvSpPr txBox="1"/>
          <p:nvPr/>
        </p:nvSpPr>
        <p:spPr>
          <a:xfrm>
            <a:off x="6886698" y="2154724"/>
            <a:ext cx="1344215"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dirty="0">
                <a:solidFill>
                  <a:srgbClr val="FFFFFF"/>
                </a:solidFill>
                <a:latin typeface="DM Sans"/>
              </a:rPr>
              <a:t>Week 6</a:t>
            </a:r>
          </a:p>
        </p:txBody>
      </p:sp>
      <p:sp>
        <p:nvSpPr>
          <p:cNvPr id="19" name="TextBox 18"/>
          <p:cNvSpPr txBox="1"/>
          <p:nvPr/>
        </p:nvSpPr>
        <p:spPr>
          <a:xfrm>
            <a:off x="6899795" y="2397611"/>
            <a:ext cx="1500931" cy="5348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dirty="0">
                <a:solidFill>
                  <a:srgbClr val="B9C0CA"/>
                </a:solidFill>
                <a:latin typeface="DM Sans"/>
              </a:rPr>
              <a:t>Analytics</a:t>
            </a:r>
            <a:r>
              <a:rPr sz="1203" b="0" i="0" dirty="0">
                <a:solidFill>
                  <a:srgbClr val="B9C0CA"/>
                </a:solidFill>
                <a:latin typeface="DM Sans"/>
              </a:rPr>
              <a:t> and dashboarding</a:t>
            </a:r>
          </a:p>
        </p:txBody>
      </p:sp>
      <p:pic>
        <p:nvPicPr>
          <p:cNvPr id="20" name="Picture 19" descr="22462c1c-7d0e-4a9d-b710-11594176c4fc.png"/>
          <p:cNvPicPr>
            <a:picLocks noChangeAspect="1"/>
          </p:cNvPicPr>
          <p:nvPr/>
        </p:nvPicPr>
        <p:blipFill>
          <a:blip r:embed="rId6"/>
          <a:stretch>
            <a:fillRect/>
          </a:stretch>
        </p:blipFill>
        <p:spPr>
          <a:xfrm>
            <a:off x="7434386" y="3036977"/>
            <a:ext cx="25300" cy="2475607"/>
          </a:xfrm>
          <a:prstGeom prst="rect">
            <a:avLst/>
          </a:prstGeom>
        </p:spPr>
      </p:pic>
      <p:pic>
        <p:nvPicPr>
          <p:cNvPr id="21" name="Picture 20" descr="07dbabc7-8796-49ef-b70d-5b8e4bc7790c.png"/>
          <p:cNvPicPr>
            <a:picLocks noChangeAspect="1"/>
          </p:cNvPicPr>
          <p:nvPr/>
        </p:nvPicPr>
        <p:blipFill>
          <a:blip r:embed="rId7"/>
          <a:stretch>
            <a:fillRect/>
          </a:stretch>
        </p:blipFill>
        <p:spPr>
          <a:xfrm>
            <a:off x="7097737" y="5114767"/>
            <a:ext cx="657373" cy="564802"/>
          </a:xfrm>
          <a:prstGeom prst="rect">
            <a:avLst/>
          </a:prstGeom>
        </p:spPr>
      </p:pic>
      <p:pic>
        <p:nvPicPr>
          <p:cNvPr id="22" name="Picture 21" descr="1bd7f72b-74e8-4d96-bd85-c40618fb1e91.png"/>
          <p:cNvPicPr>
            <a:picLocks noChangeAspect="1"/>
          </p:cNvPicPr>
          <p:nvPr/>
        </p:nvPicPr>
        <p:blipFill>
          <a:blip r:embed="rId11"/>
          <a:stretch>
            <a:fillRect/>
          </a:stretch>
        </p:blipFill>
        <p:spPr>
          <a:xfrm>
            <a:off x="7253857" y="5237550"/>
            <a:ext cx="360610" cy="345430"/>
          </a:xfrm>
          <a:prstGeom prst="rect">
            <a:avLst/>
          </a:prstGeom>
        </p:spPr>
      </p:pic>
      <p:sp>
        <p:nvSpPr>
          <p:cNvPr id="23" name="TextBox 22"/>
          <p:cNvSpPr txBox="1"/>
          <p:nvPr/>
        </p:nvSpPr>
        <p:spPr>
          <a:xfrm>
            <a:off x="7191573" y="5787340"/>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dirty="0">
                <a:solidFill>
                  <a:srgbClr val="FFFFFF"/>
                </a:solidFill>
                <a:latin typeface="DM Sans"/>
              </a:rPr>
              <a:t>SPR3</a:t>
            </a:r>
          </a:p>
        </p:txBody>
      </p:sp>
      <p:sp>
        <p:nvSpPr>
          <p:cNvPr id="24" name="TextBox 23"/>
          <p:cNvSpPr txBox="1"/>
          <p:nvPr/>
        </p:nvSpPr>
        <p:spPr>
          <a:xfrm>
            <a:off x="8781603" y="2051446"/>
            <a:ext cx="1455687" cy="19838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DM Sans"/>
              </a:defRPr>
            </a:pPr>
            <a:r>
              <a:rPr sz="1335" b="1" i="0">
                <a:solidFill>
                  <a:srgbClr val="FFFFFF"/>
                </a:solidFill>
                <a:latin typeface="DM Sans"/>
              </a:rPr>
              <a:t>Week 7</a:t>
            </a:r>
          </a:p>
        </p:txBody>
      </p:sp>
      <p:sp>
        <p:nvSpPr>
          <p:cNvPr id="25" name="TextBox 24"/>
          <p:cNvSpPr txBox="1"/>
          <p:nvPr/>
        </p:nvSpPr>
        <p:spPr>
          <a:xfrm>
            <a:off x="8794700" y="2294334"/>
            <a:ext cx="1500931" cy="514350"/>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B9C0CA"/>
                </a:solidFill>
                <a:latin typeface="DM Sans"/>
              </a:defRPr>
            </a:pPr>
            <a:r>
              <a:rPr sz="1203" b="1" i="0">
                <a:solidFill>
                  <a:srgbClr val="B9C0CA"/>
                </a:solidFill>
                <a:latin typeface="DM Sans"/>
              </a:rPr>
              <a:t>Final</a:t>
            </a:r>
            <a:r>
              <a:rPr sz="1203" b="0" i="0">
                <a:solidFill>
                  <a:srgbClr val="B9C0CA"/>
                </a:solidFill>
                <a:latin typeface="DM Sans"/>
              </a:rPr>
              <a:t> testing and deployment</a:t>
            </a:r>
          </a:p>
        </p:txBody>
      </p:sp>
      <p:pic>
        <p:nvPicPr>
          <p:cNvPr id="26" name="Picture 25" descr="22462c1c-7d0e-4a9d-b710-11594176c4fc.png"/>
          <p:cNvPicPr>
            <a:picLocks noChangeAspect="1"/>
          </p:cNvPicPr>
          <p:nvPr/>
        </p:nvPicPr>
        <p:blipFill>
          <a:blip r:embed="rId6"/>
          <a:stretch>
            <a:fillRect/>
          </a:stretch>
        </p:blipFill>
        <p:spPr>
          <a:xfrm>
            <a:off x="9529018" y="2958703"/>
            <a:ext cx="25300" cy="2475607"/>
          </a:xfrm>
          <a:prstGeom prst="rect">
            <a:avLst/>
          </a:prstGeom>
        </p:spPr>
      </p:pic>
      <p:pic>
        <p:nvPicPr>
          <p:cNvPr id="27" name="Picture 26" descr="07dbabc7-8796-49ef-b70d-5b8e4bc7790c.png"/>
          <p:cNvPicPr>
            <a:picLocks noChangeAspect="1"/>
          </p:cNvPicPr>
          <p:nvPr/>
        </p:nvPicPr>
        <p:blipFill>
          <a:blip r:embed="rId7"/>
          <a:stretch>
            <a:fillRect/>
          </a:stretch>
        </p:blipFill>
        <p:spPr>
          <a:xfrm>
            <a:off x="9192369" y="5036343"/>
            <a:ext cx="657373" cy="564802"/>
          </a:xfrm>
          <a:prstGeom prst="rect">
            <a:avLst/>
          </a:prstGeom>
        </p:spPr>
      </p:pic>
      <p:pic>
        <p:nvPicPr>
          <p:cNvPr id="28" name="Picture 27" descr="137b0da2-4fa8-4352-9c62-09c343a802bb.png"/>
          <p:cNvPicPr>
            <a:picLocks noChangeAspect="1"/>
          </p:cNvPicPr>
          <p:nvPr/>
        </p:nvPicPr>
        <p:blipFill>
          <a:blip r:embed="rId12"/>
          <a:stretch>
            <a:fillRect/>
          </a:stretch>
        </p:blipFill>
        <p:spPr>
          <a:xfrm>
            <a:off x="9345215" y="5175498"/>
            <a:ext cx="351829" cy="365373"/>
          </a:xfrm>
          <a:prstGeom prst="rect">
            <a:avLst/>
          </a:prstGeom>
        </p:spPr>
      </p:pic>
      <p:sp>
        <p:nvSpPr>
          <p:cNvPr id="29" name="TextBox 28"/>
          <p:cNvSpPr txBox="1"/>
          <p:nvPr/>
        </p:nvSpPr>
        <p:spPr>
          <a:xfrm>
            <a:off x="9301460" y="5672881"/>
            <a:ext cx="510926" cy="223986"/>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469" b="1" i="0" spc="21">
                <a:solidFill>
                  <a:srgbClr val="FFFFFF"/>
                </a:solidFill>
                <a:latin typeface="DM Sans"/>
              </a:defRPr>
            </a:pPr>
            <a:r>
              <a:rPr sz="1469" b="1" i="0">
                <a:solidFill>
                  <a:srgbClr val="FFFFFF"/>
                </a:solidFill>
                <a:latin typeface="DM Sans"/>
              </a:rPr>
              <a:t>FIN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7247762e-6da4-4a05-ab49-cf6164362c12.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685800" y="2183010"/>
            <a:ext cx="640258" cy="1194643"/>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8382" b="1" i="1" spc="125">
                <a:solidFill>
                  <a:srgbClr val="FFFFFF"/>
                </a:solidFill>
                <a:latin typeface="Syne"/>
              </a:defRPr>
            </a:pPr>
            <a:r>
              <a:rPr sz="8382" b="1" i="1">
                <a:solidFill>
                  <a:srgbClr val="FFFFFF"/>
                </a:solidFill>
                <a:latin typeface="Playfair Display Semi-Bold Italics"/>
              </a:rPr>
              <a:t>“</a:t>
            </a:r>
          </a:p>
        </p:txBody>
      </p:sp>
      <p:sp>
        <p:nvSpPr>
          <p:cNvPr id="5" name="TextBox 4"/>
          <p:cNvSpPr txBox="1"/>
          <p:nvPr/>
        </p:nvSpPr>
        <p:spPr>
          <a:xfrm>
            <a:off x="1327546" y="2733823"/>
            <a:ext cx="4114800" cy="1905000"/>
          </a:xfrm>
          <a:prstGeom prst="rect">
            <a:avLst/>
          </a:prstGeom>
          <a:noFill/>
          <a:ln>
            <a:noFill/>
          </a:ln>
          <a:effectLst>
            <a:outerShdw>
              <a:srgbClr val="000000">
                <a:alpha val="0"/>
              </a:srgbClr>
            </a:outerShdw>
          </a:effectLst>
        </p:spPr>
        <p:txBody>
          <a:bodyPr wrap="square" lIns="0" tIns="0" rIns="0" bIns="0" anchor="ctr">
            <a:spAutoFit/>
          </a:bodyPr>
          <a:lstStyle/>
          <a:p>
            <a:pPr>
              <a:lnSpc>
                <a:spcPct val="88800"/>
              </a:lnSpc>
              <a:defRPr sz="2345" b="1" i="0" spc="34">
                <a:solidFill>
                  <a:srgbClr val="44AFFF"/>
                </a:solidFill>
                <a:latin typeface="DM Sans"/>
              </a:defRPr>
            </a:pPr>
            <a:r>
              <a:rPr sz="2345" b="1" i="0">
                <a:solidFill>
                  <a:srgbClr val="44AFFF"/>
                </a:solidFill>
                <a:latin typeface="DM Sans"/>
              </a:rPr>
              <a:t>Sprint 1 focuses on building secure authentication and core data structures for tracking progress.</a:t>
            </a:r>
          </a:p>
        </p:txBody>
      </p:sp>
      <p:sp>
        <p:nvSpPr>
          <p:cNvPr id="6" name="TextBox 5"/>
          <p:cNvSpPr txBox="1"/>
          <p:nvPr/>
        </p:nvSpPr>
        <p:spPr>
          <a:xfrm rot="10800000">
            <a:off x="4619624" y="3992760"/>
            <a:ext cx="638175" cy="1190625"/>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8382" b="1" i="1" spc="125">
                <a:solidFill>
                  <a:srgbClr val="FFFFFF"/>
                </a:solidFill>
                <a:latin typeface="Syne"/>
              </a:defRPr>
            </a:pPr>
            <a:r>
              <a:rPr sz="8382" b="1" i="1">
                <a:solidFill>
                  <a:srgbClr val="FFFFFF"/>
                </a:solidFill>
                <a:latin typeface="Playfair Display Semi-Bold Italics"/>
              </a:rPr>
              <a:t>“</a:t>
            </a:r>
          </a:p>
        </p:txBody>
      </p:sp>
      <p:pic>
        <p:nvPicPr>
          <p:cNvPr id="7" name="Picture 6" descr="86730cfe-17cd-466a-8fe4-5a0854aea685.png"/>
          <p:cNvPicPr>
            <a:picLocks noChangeAspect="1"/>
          </p:cNvPicPr>
          <p:nvPr/>
        </p:nvPicPr>
        <p:blipFill>
          <a:blip r:embed="rId5"/>
          <a:stretch>
            <a:fillRect/>
          </a:stretch>
        </p:blipFill>
        <p:spPr>
          <a:xfrm>
            <a:off x="7103864" y="2478583"/>
            <a:ext cx="83790" cy="1737419"/>
          </a:xfrm>
          <a:prstGeom prst="rect">
            <a:avLst/>
          </a:prstGeom>
        </p:spPr>
      </p:pic>
      <p:pic>
        <p:nvPicPr>
          <p:cNvPr id="8" name="Picture 7" descr="223f731a-c301-4c3f-b53a-c28431c4562e.png"/>
          <p:cNvPicPr>
            <a:picLocks noChangeAspect="1"/>
          </p:cNvPicPr>
          <p:nvPr/>
        </p:nvPicPr>
        <p:blipFill>
          <a:blip r:embed="rId6"/>
          <a:stretch>
            <a:fillRect/>
          </a:stretch>
        </p:blipFill>
        <p:spPr>
          <a:xfrm>
            <a:off x="7152084" y="635793"/>
            <a:ext cx="4011066" cy="55096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9274e6cf-adc4-41eb-b69e-21cc78358d0c.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997446" y="667642"/>
            <a:ext cx="5117455"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System Architecture</a:t>
            </a:r>
          </a:p>
        </p:txBody>
      </p:sp>
      <p:pic>
        <p:nvPicPr>
          <p:cNvPr id="5" name="Picture 4" descr="1a9d33d1-a825-48c5-ac8d-5b14990780b7.png"/>
          <p:cNvPicPr>
            <a:picLocks noChangeAspect="1"/>
          </p:cNvPicPr>
          <p:nvPr/>
        </p:nvPicPr>
        <p:blipFill>
          <a:blip r:embed="rId5"/>
          <a:stretch>
            <a:fillRect/>
          </a:stretch>
        </p:blipFill>
        <p:spPr>
          <a:xfrm>
            <a:off x="3355181" y="2242393"/>
            <a:ext cx="1603027" cy="3206204"/>
          </a:xfrm>
          <a:prstGeom prst="rect">
            <a:avLst/>
          </a:prstGeom>
        </p:spPr>
      </p:pic>
      <p:pic>
        <p:nvPicPr>
          <p:cNvPr id="6" name="Picture 5" descr="c8158b29-9e22-401f-bed5-2dc028261968.png"/>
          <p:cNvPicPr>
            <a:picLocks noChangeAspect="1"/>
          </p:cNvPicPr>
          <p:nvPr/>
        </p:nvPicPr>
        <p:blipFill>
          <a:blip r:embed="rId6"/>
          <a:stretch>
            <a:fillRect/>
          </a:stretch>
        </p:blipFill>
        <p:spPr>
          <a:xfrm>
            <a:off x="1785044" y="2186731"/>
            <a:ext cx="2069455" cy="2069455"/>
          </a:xfrm>
          <a:prstGeom prst="rect">
            <a:avLst/>
          </a:prstGeom>
        </p:spPr>
      </p:pic>
      <p:pic>
        <p:nvPicPr>
          <p:cNvPr id="7" name="Picture 6" descr="110de592-b6a2-4731-a112-bee971df43bf.png"/>
          <p:cNvPicPr>
            <a:picLocks noChangeAspect="1"/>
          </p:cNvPicPr>
          <p:nvPr/>
        </p:nvPicPr>
        <p:blipFill>
          <a:blip r:embed="rId7"/>
          <a:stretch>
            <a:fillRect/>
          </a:stretch>
        </p:blipFill>
        <p:spPr>
          <a:xfrm>
            <a:off x="4901207" y="3860155"/>
            <a:ext cx="114002" cy="114002"/>
          </a:xfrm>
          <a:prstGeom prst="rect">
            <a:avLst/>
          </a:prstGeom>
        </p:spPr>
      </p:pic>
      <p:pic>
        <p:nvPicPr>
          <p:cNvPr id="8" name="Picture 7" descr="640b09e6-33a1-4a90-bee7-860ed5adcbfe.png"/>
          <p:cNvPicPr>
            <a:picLocks noChangeAspect="1"/>
          </p:cNvPicPr>
          <p:nvPr/>
        </p:nvPicPr>
        <p:blipFill>
          <a:blip r:embed="rId8"/>
          <a:stretch>
            <a:fillRect/>
          </a:stretch>
        </p:blipFill>
        <p:spPr>
          <a:xfrm>
            <a:off x="5015210" y="3913882"/>
            <a:ext cx="1462236" cy="9525"/>
          </a:xfrm>
          <a:prstGeom prst="rect">
            <a:avLst/>
          </a:prstGeom>
        </p:spPr>
      </p:pic>
      <p:pic>
        <p:nvPicPr>
          <p:cNvPr id="9" name="Picture 8" descr="6fd5f4d4-976d-46f6-92d1-03e48602abf5.png"/>
          <p:cNvPicPr>
            <a:picLocks noChangeAspect="1"/>
          </p:cNvPicPr>
          <p:nvPr/>
        </p:nvPicPr>
        <p:blipFill>
          <a:blip r:embed="rId9"/>
          <a:stretch>
            <a:fillRect/>
          </a:stretch>
        </p:blipFill>
        <p:spPr>
          <a:xfrm>
            <a:off x="6477595" y="3572321"/>
            <a:ext cx="1513135" cy="692348"/>
          </a:xfrm>
          <a:prstGeom prst="rect">
            <a:avLst/>
          </a:prstGeom>
        </p:spPr>
      </p:pic>
      <p:sp>
        <p:nvSpPr>
          <p:cNvPr id="10" name="TextBox 9"/>
          <p:cNvSpPr txBox="1"/>
          <p:nvPr/>
        </p:nvSpPr>
        <p:spPr>
          <a:xfrm>
            <a:off x="6678364" y="3770709"/>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Scoring Analytics</a:t>
            </a:r>
          </a:p>
        </p:txBody>
      </p:sp>
      <p:sp>
        <p:nvSpPr>
          <p:cNvPr id="11" name="TextBox 10"/>
          <p:cNvSpPr txBox="1"/>
          <p:nvPr/>
        </p:nvSpPr>
        <p:spPr>
          <a:xfrm>
            <a:off x="8236148" y="3738711"/>
            <a:ext cx="2812256"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Calculates </a:t>
            </a:r>
            <a:r>
              <a:rPr sz="1138" b="1" i="0">
                <a:solidFill>
                  <a:srgbClr val="FFFFFF"/>
                </a:solidFill>
                <a:latin typeface="DM Sans"/>
              </a:rPr>
              <a:t>assessment scores</a:t>
            </a:r>
            <a:r>
              <a:rPr sz="1138" b="0" i="0">
                <a:solidFill>
                  <a:srgbClr val="FFFFFF"/>
                </a:solidFill>
                <a:latin typeface="DM Sans"/>
              </a:rPr>
              <a:t> and performance metrics.</a:t>
            </a:r>
          </a:p>
        </p:txBody>
      </p:sp>
      <p:pic>
        <p:nvPicPr>
          <p:cNvPr id="12" name="Picture 11" descr="f7bb08b0-6235-41bc-a9bc-c23967b7a257.png"/>
          <p:cNvPicPr>
            <a:picLocks noChangeAspect="1"/>
          </p:cNvPicPr>
          <p:nvPr/>
        </p:nvPicPr>
        <p:blipFill>
          <a:blip r:embed="rId10"/>
          <a:stretch>
            <a:fillRect/>
          </a:stretch>
        </p:blipFill>
        <p:spPr>
          <a:xfrm>
            <a:off x="2084784" y="2186731"/>
            <a:ext cx="1484262" cy="1453604"/>
          </a:xfrm>
          <a:prstGeom prst="rect">
            <a:avLst/>
          </a:prstGeom>
        </p:spPr>
      </p:pic>
      <p:pic>
        <p:nvPicPr>
          <p:cNvPr id="13" name="Picture 12" descr="110de592-b6a2-4731-a112-bee971df43bf.png"/>
          <p:cNvPicPr>
            <a:picLocks noChangeAspect="1"/>
          </p:cNvPicPr>
          <p:nvPr/>
        </p:nvPicPr>
        <p:blipFill>
          <a:blip r:embed="rId7"/>
          <a:stretch>
            <a:fillRect/>
          </a:stretch>
        </p:blipFill>
        <p:spPr>
          <a:xfrm>
            <a:off x="4767560" y="3126432"/>
            <a:ext cx="114002" cy="114002"/>
          </a:xfrm>
          <a:prstGeom prst="rect">
            <a:avLst/>
          </a:prstGeom>
        </p:spPr>
      </p:pic>
      <p:pic>
        <p:nvPicPr>
          <p:cNvPr id="14" name="Picture 13" descr="e173c653-00b5-4ea8-b8c8-5889830e0a37.png"/>
          <p:cNvPicPr>
            <a:picLocks noChangeAspect="1"/>
          </p:cNvPicPr>
          <p:nvPr/>
        </p:nvPicPr>
        <p:blipFill>
          <a:blip r:embed="rId11"/>
          <a:stretch>
            <a:fillRect/>
          </a:stretch>
        </p:blipFill>
        <p:spPr>
          <a:xfrm>
            <a:off x="4850159" y="3073896"/>
            <a:ext cx="228004" cy="100756"/>
          </a:xfrm>
          <a:prstGeom prst="rect">
            <a:avLst/>
          </a:prstGeom>
        </p:spPr>
      </p:pic>
      <p:pic>
        <p:nvPicPr>
          <p:cNvPr id="15" name="Picture 14" descr="2b79eaf6-c531-4ee2-975e-e8589a87695a.png"/>
          <p:cNvPicPr>
            <a:picLocks noChangeAspect="1"/>
          </p:cNvPicPr>
          <p:nvPr/>
        </p:nvPicPr>
        <p:blipFill>
          <a:blip r:embed="rId12"/>
          <a:stretch>
            <a:fillRect/>
          </a:stretch>
        </p:blipFill>
        <p:spPr>
          <a:xfrm>
            <a:off x="5078164" y="3077170"/>
            <a:ext cx="1399282" cy="9525"/>
          </a:xfrm>
          <a:prstGeom prst="rect">
            <a:avLst/>
          </a:prstGeom>
        </p:spPr>
      </p:pic>
      <p:pic>
        <p:nvPicPr>
          <p:cNvPr id="16" name="Picture 15" descr="93e1b06b-83ee-4d36-9c91-590c5b46cf6a.png"/>
          <p:cNvPicPr>
            <a:picLocks noChangeAspect="1"/>
          </p:cNvPicPr>
          <p:nvPr/>
        </p:nvPicPr>
        <p:blipFill>
          <a:blip r:embed="rId13"/>
          <a:stretch>
            <a:fillRect/>
          </a:stretch>
        </p:blipFill>
        <p:spPr>
          <a:xfrm>
            <a:off x="6477446" y="2727721"/>
            <a:ext cx="1513135" cy="692348"/>
          </a:xfrm>
          <a:prstGeom prst="rect">
            <a:avLst/>
          </a:prstGeom>
        </p:spPr>
      </p:pic>
      <p:sp>
        <p:nvSpPr>
          <p:cNvPr id="17" name="TextBox 16"/>
          <p:cNvSpPr txBox="1"/>
          <p:nvPr/>
        </p:nvSpPr>
        <p:spPr>
          <a:xfrm>
            <a:off x="6678215" y="2914650"/>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Assessment Engine</a:t>
            </a:r>
          </a:p>
        </p:txBody>
      </p:sp>
      <p:sp>
        <p:nvSpPr>
          <p:cNvPr id="18" name="TextBox 17"/>
          <p:cNvSpPr txBox="1"/>
          <p:nvPr/>
        </p:nvSpPr>
        <p:spPr>
          <a:xfrm>
            <a:off x="8227665" y="2945755"/>
            <a:ext cx="2916287"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Executes the core </a:t>
            </a:r>
            <a:r>
              <a:rPr sz="1138" b="1" i="0">
                <a:solidFill>
                  <a:srgbClr val="FFFFFF"/>
                </a:solidFill>
                <a:latin typeface="DM Sans"/>
              </a:rPr>
              <a:t>workflow</a:t>
            </a:r>
            <a:r>
              <a:rPr sz="1138" b="0" i="0">
                <a:solidFill>
                  <a:srgbClr val="FFFFFF"/>
                </a:solidFill>
                <a:latin typeface="DM Sans"/>
              </a:rPr>
              <a:t> and assessment logic.</a:t>
            </a:r>
          </a:p>
        </p:txBody>
      </p:sp>
      <p:pic>
        <p:nvPicPr>
          <p:cNvPr id="19" name="Picture 18" descr="cf14901e-dd8a-4432-9a03-1f1761ab9784.png"/>
          <p:cNvPicPr>
            <a:picLocks noChangeAspect="1"/>
          </p:cNvPicPr>
          <p:nvPr/>
        </p:nvPicPr>
        <p:blipFill>
          <a:blip r:embed="rId14"/>
          <a:stretch>
            <a:fillRect/>
          </a:stretch>
        </p:blipFill>
        <p:spPr>
          <a:xfrm>
            <a:off x="1146423" y="2186731"/>
            <a:ext cx="3346698" cy="3346698"/>
          </a:xfrm>
          <a:prstGeom prst="rect">
            <a:avLst/>
          </a:prstGeom>
        </p:spPr>
      </p:pic>
      <p:pic>
        <p:nvPicPr>
          <p:cNvPr id="20" name="Picture 19" descr="110de592-b6a2-4731-a112-bee971df43bf.png"/>
          <p:cNvPicPr>
            <a:picLocks noChangeAspect="1"/>
          </p:cNvPicPr>
          <p:nvPr/>
        </p:nvPicPr>
        <p:blipFill>
          <a:blip r:embed="rId7"/>
          <a:stretch>
            <a:fillRect/>
          </a:stretch>
        </p:blipFill>
        <p:spPr>
          <a:xfrm>
            <a:off x="4307830" y="5221485"/>
            <a:ext cx="114002" cy="114002"/>
          </a:xfrm>
          <a:prstGeom prst="rect">
            <a:avLst/>
          </a:prstGeom>
        </p:spPr>
      </p:pic>
      <p:pic>
        <p:nvPicPr>
          <p:cNvPr id="21" name="Picture 20" descr="0df8d9f3-4db0-458a-baa6-6ea8a0d3a439.png"/>
          <p:cNvPicPr>
            <a:picLocks noChangeAspect="1"/>
          </p:cNvPicPr>
          <p:nvPr/>
        </p:nvPicPr>
        <p:blipFill>
          <a:blip r:embed="rId15"/>
          <a:stretch>
            <a:fillRect/>
          </a:stretch>
        </p:blipFill>
        <p:spPr>
          <a:xfrm>
            <a:off x="4387899" y="5309294"/>
            <a:ext cx="144214" cy="295275"/>
          </a:xfrm>
          <a:prstGeom prst="rect">
            <a:avLst/>
          </a:prstGeom>
        </p:spPr>
      </p:pic>
      <p:pic>
        <p:nvPicPr>
          <p:cNvPr id="22" name="Picture 21" descr="a8e5e30f-c4d0-45b0-ae24-9191e09f06f5.png"/>
          <p:cNvPicPr>
            <a:picLocks noChangeAspect="1"/>
          </p:cNvPicPr>
          <p:nvPr/>
        </p:nvPicPr>
        <p:blipFill>
          <a:blip r:embed="rId16"/>
          <a:stretch>
            <a:fillRect/>
          </a:stretch>
        </p:blipFill>
        <p:spPr>
          <a:xfrm>
            <a:off x="4532262" y="5604569"/>
            <a:ext cx="1945332" cy="9525"/>
          </a:xfrm>
          <a:prstGeom prst="rect">
            <a:avLst/>
          </a:prstGeom>
        </p:spPr>
      </p:pic>
      <p:pic>
        <p:nvPicPr>
          <p:cNvPr id="23" name="Picture 22" descr="0c94ba37-4636-4fa7-bd9c-b4ef22f4af0a.png"/>
          <p:cNvPicPr>
            <a:picLocks noChangeAspect="1"/>
          </p:cNvPicPr>
          <p:nvPr/>
        </p:nvPicPr>
        <p:blipFill>
          <a:blip r:embed="rId17"/>
          <a:stretch>
            <a:fillRect/>
          </a:stretch>
        </p:blipFill>
        <p:spPr>
          <a:xfrm>
            <a:off x="6477595" y="5261371"/>
            <a:ext cx="1513135" cy="692348"/>
          </a:xfrm>
          <a:prstGeom prst="rect">
            <a:avLst/>
          </a:prstGeom>
        </p:spPr>
      </p:pic>
      <p:sp>
        <p:nvSpPr>
          <p:cNvPr id="24" name="TextBox 23"/>
          <p:cNvSpPr txBox="1"/>
          <p:nvPr/>
        </p:nvSpPr>
        <p:spPr>
          <a:xfrm>
            <a:off x="6678364" y="5440412"/>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Content Repository</a:t>
            </a:r>
          </a:p>
        </p:txBody>
      </p:sp>
      <p:sp>
        <p:nvSpPr>
          <p:cNvPr id="25" name="TextBox 24"/>
          <p:cNvSpPr txBox="1"/>
          <p:nvPr/>
        </p:nvSpPr>
        <p:spPr>
          <a:xfrm>
            <a:off x="8227814" y="5460057"/>
            <a:ext cx="2600325"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Manages </a:t>
            </a:r>
            <a:r>
              <a:rPr sz="1138" b="1" i="0">
                <a:solidFill>
                  <a:srgbClr val="FFFFFF"/>
                </a:solidFill>
                <a:latin typeface="DM Sans"/>
              </a:rPr>
              <a:t>training content</a:t>
            </a:r>
            <a:r>
              <a:rPr sz="1138" b="0" i="0">
                <a:solidFill>
                  <a:srgbClr val="FFFFFF"/>
                </a:solidFill>
                <a:latin typeface="DM Sans"/>
              </a:rPr>
              <a:t> and resource availability.</a:t>
            </a:r>
          </a:p>
        </p:txBody>
      </p:sp>
      <p:pic>
        <p:nvPicPr>
          <p:cNvPr id="26" name="Picture 25" descr="8aa3c1ba-ab48-49c6-be14-4e0c3839f558.png"/>
          <p:cNvPicPr>
            <a:picLocks noChangeAspect="1"/>
          </p:cNvPicPr>
          <p:nvPr/>
        </p:nvPicPr>
        <p:blipFill>
          <a:blip r:embed="rId18"/>
          <a:stretch>
            <a:fillRect/>
          </a:stretch>
        </p:blipFill>
        <p:spPr>
          <a:xfrm>
            <a:off x="1408509" y="2186731"/>
            <a:ext cx="2822525" cy="2822525"/>
          </a:xfrm>
          <a:prstGeom prst="rect">
            <a:avLst/>
          </a:prstGeom>
        </p:spPr>
      </p:pic>
      <p:pic>
        <p:nvPicPr>
          <p:cNvPr id="27" name="Picture 26" descr="110de592-b6a2-4731-a112-bee971df43bf.png"/>
          <p:cNvPicPr>
            <a:picLocks noChangeAspect="1"/>
          </p:cNvPicPr>
          <p:nvPr/>
        </p:nvPicPr>
        <p:blipFill>
          <a:blip r:embed="rId7"/>
          <a:stretch>
            <a:fillRect/>
          </a:stretch>
        </p:blipFill>
        <p:spPr>
          <a:xfrm>
            <a:off x="4740771" y="4592389"/>
            <a:ext cx="114002" cy="114002"/>
          </a:xfrm>
          <a:prstGeom prst="rect">
            <a:avLst/>
          </a:prstGeom>
        </p:spPr>
      </p:pic>
      <p:pic>
        <p:nvPicPr>
          <p:cNvPr id="28" name="Picture 27" descr="fa667d58-8e6a-4275-ae6e-865a49b923e8.png"/>
          <p:cNvPicPr>
            <a:picLocks noChangeAspect="1"/>
          </p:cNvPicPr>
          <p:nvPr/>
        </p:nvPicPr>
        <p:blipFill>
          <a:blip r:embed="rId19"/>
          <a:stretch>
            <a:fillRect/>
          </a:stretch>
        </p:blipFill>
        <p:spPr>
          <a:xfrm>
            <a:off x="4850159" y="4660552"/>
            <a:ext cx="177849" cy="102542"/>
          </a:xfrm>
          <a:prstGeom prst="rect">
            <a:avLst/>
          </a:prstGeom>
        </p:spPr>
      </p:pic>
      <p:pic>
        <p:nvPicPr>
          <p:cNvPr id="29" name="Picture 28" descr="709f495b-4ce5-450c-ba38-a91bc3b23454.png"/>
          <p:cNvPicPr>
            <a:picLocks noChangeAspect="1"/>
          </p:cNvPicPr>
          <p:nvPr/>
        </p:nvPicPr>
        <p:blipFill>
          <a:blip r:embed="rId20"/>
          <a:stretch>
            <a:fillRect/>
          </a:stretch>
        </p:blipFill>
        <p:spPr>
          <a:xfrm>
            <a:off x="5018186" y="4759969"/>
            <a:ext cx="1459259" cy="9525"/>
          </a:xfrm>
          <a:prstGeom prst="rect">
            <a:avLst/>
          </a:prstGeom>
        </p:spPr>
      </p:pic>
      <p:pic>
        <p:nvPicPr>
          <p:cNvPr id="30" name="Picture 29" descr="16c96139-6d4c-4731-8c6d-93434a67ca58.png"/>
          <p:cNvPicPr>
            <a:picLocks noChangeAspect="1"/>
          </p:cNvPicPr>
          <p:nvPr/>
        </p:nvPicPr>
        <p:blipFill>
          <a:blip r:embed="rId21"/>
          <a:stretch>
            <a:fillRect/>
          </a:stretch>
        </p:blipFill>
        <p:spPr>
          <a:xfrm>
            <a:off x="6477595" y="4416772"/>
            <a:ext cx="1513135" cy="692348"/>
          </a:xfrm>
          <a:prstGeom prst="rect">
            <a:avLst/>
          </a:prstGeom>
        </p:spPr>
      </p:pic>
      <p:sp>
        <p:nvSpPr>
          <p:cNvPr id="31" name="TextBox 30"/>
          <p:cNvSpPr txBox="1"/>
          <p:nvPr/>
        </p:nvSpPr>
        <p:spPr>
          <a:xfrm>
            <a:off x="6678364" y="4615160"/>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Secure User Data</a:t>
            </a:r>
          </a:p>
        </p:txBody>
      </p:sp>
      <p:sp>
        <p:nvSpPr>
          <p:cNvPr id="32" name="TextBox 31"/>
          <p:cNvSpPr txBox="1"/>
          <p:nvPr/>
        </p:nvSpPr>
        <p:spPr>
          <a:xfrm>
            <a:off x="8227814" y="4581971"/>
            <a:ext cx="2600325"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Protects </a:t>
            </a:r>
            <a:r>
              <a:rPr sz="1138" b="1" i="0">
                <a:solidFill>
                  <a:srgbClr val="FFFFFF"/>
                </a:solidFill>
                <a:latin typeface="DM Sans"/>
              </a:rPr>
              <a:t>user profiles</a:t>
            </a:r>
            <a:r>
              <a:rPr sz="1138" b="0" i="0">
                <a:solidFill>
                  <a:srgbClr val="FFFFFF"/>
                </a:solidFill>
                <a:latin typeface="DM Sans"/>
              </a:rPr>
              <a:t> and historical quiz results.</a:t>
            </a:r>
          </a:p>
        </p:txBody>
      </p:sp>
      <p:pic>
        <p:nvPicPr>
          <p:cNvPr id="33" name="Picture 32" descr="68b74aae-90bd-4610-89f4-74328de1002c.png"/>
          <p:cNvPicPr>
            <a:picLocks noChangeAspect="1"/>
          </p:cNvPicPr>
          <p:nvPr/>
        </p:nvPicPr>
        <p:blipFill>
          <a:blip r:embed="rId22"/>
          <a:stretch>
            <a:fillRect/>
          </a:stretch>
        </p:blipFill>
        <p:spPr>
          <a:xfrm>
            <a:off x="2366367" y="2186731"/>
            <a:ext cx="906512" cy="906512"/>
          </a:xfrm>
          <a:prstGeom prst="rect">
            <a:avLst/>
          </a:prstGeom>
        </p:spPr>
      </p:pic>
      <p:pic>
        <p:nvPicPr>
          <p:cNvPr id="34" name="Picture 33" descr="110de592-b6a2-4731-a112-bee971df43bf.png"/>
          <p:cNvPicPr>
            <a:picLocks noChangeAspect="1"/>
          </p:cNvPicPr>
          <p:nvPr/>
        </p:nvPicPr>
        <p:blipFill>
          <a:blip r:embed="rId7"/>
          <a:stretch>
            <a:fillRect/>
          </a:stretch>
        </p:blipFill>
        <p:spPr>
          <a:xfrm>
            <a:off x="4272260" y="2383035"/>
            <a:ext cx="114002" cy="114002"/>
          </a:xfrm>
          <a:prstGeom prst="rect">
            <a:avLst/>
          </a:prstGeom>
        </p:spPr>
      </p:pic>
      <p:pic>
        <p:nvPicPr>
          <p:cNvPr id="35" name="Picture 34" descr="d62de8cf-a4b6-4656-b283-c38f1626c4aa.png"/>
          <p:cNvPicPr>
            <a:picLocks noChangeAspect="1"/>
          </p:cNvPicPr>
          <p:nvPr/>
        </p:nvPicPr>
        <p:blipFill>
          <a:blip r:embed="rId23"/>
          <a:stretch>
            <a:fillRect/>
          </a:stretch>
        </p:blipFill>
        <p:spPr>
          <a:xfrm>
            <a:off x="4368700" y="2229445"/>
            <a:ext cx="163264" cy="169366"/>
          </a:xfrm>
          <a:prstGeom prst="rect">
            <a:avLst/>
          </a:prstGeom>
        </p:spPr>
      </p:pic>
      <p:pic>
        <p:nvPicPr>
          <p:cNvPr id="36" name="Picture 35" descr="a8e5e30f-c4d0-45b0-ae24-9191e09f06f5.png"/>
          <p:cNvPicPr>
            <a:picLocks noChangeAspect="1"/>
          </p:cNvPicPr>
          <p:nvPr/>
        </p:nvPicPr>
        <p:blipFill>
          <a:blip r:embed="rId16"/>
          <a:stretch>
            <a:fillRect/>
          </a:stretch>
        </p:blipFill>
        <p:spPr>
          <a:xfrm>
            <a:off x="4532114" y="2229445"/>
            <a:ext cx="1945332" cy="9525"/>
          </a:xfrm>
          <a:prstGeom prst="rect">
            <a:avLst/>
          </a:prstGeom>
        </p:spPr>
      </p:pic>
      <p:pic>
        <p:nvPicPr>
          <p:cNvPr id="37" name="Picture 36" descr="437794c4-f391-4ae9-87c4-84679b0beaaf.png"/>
          <p:cNvPicPr>
            <a:picLocks noChangeAspect="1"/>
          </p:cNvPicPr>
          <p:nvPr/>
        </p:nvPicPr>
        <p:blipFill>
          <a:blip r:embed="rId24"/>
          <a:stretch>
            <a:fillRect/>
          </a:stretch>
        </p:blipFill>
        <p:spPr>
          <a:xfrm>
            <a:off x="6477446" y="1883271"/>
            <a:ext cx="1513135" cy="692348"/>
          </a:xfrm>
          <a:prstGeom prst="rect">
            <a:avLst/>
          </a:prstGeom>
        </p:spPr>
      </p:pic>
      <p:sp>
        <p:nvSpPr>
          <p:cNvPr id="38" name="TextBox 37"/>
          <p:cNvSpPr txBox="1"/>
          <p:nvPr/>
        </p:nvSpPr>
        <p:spPr>
          <a:xfrm>
            <a:off x="6678215" y="2081658"/>
            <a:ext cx="1219646" cy="32087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265" b="1" i="0" spc="18">
                <a:solidFill>
                  <a:srgbClr val="FFFFFF"/>
                </a:solidFill>
                <a:latin typeface="DM Sans"/>
              </a:defRPr>
            </a:pPr>
            <a:r>
              <a:rPr sz="1265" b="1" i="0">
                <a:solidFill>
                  <a:srgbClr val="FFFFFF"/>
                </a:solidFill>
                <a:latin typeface="DM Sans"/>
              </a:rPr>
              <a:t>Presentation Layer</a:t>
            </a:r>
          </a:p>
        </p:txBody>
      </p:sp>
      <p:sp>
        <p:nvSpPr>
          <p:cNvPr id="39" name="TextBox 38"/>
          <p:cNvSpPr txBox="1"/>
          <p:nvPr/>
        </p:nvSpPr>
        <p:spPr>
          <a:xfrm>
            <a:off x="8227665" y="2065883"/>
            <a:ext cx="2916287" cy="281433"/>
          </a:xfrm>
          <a:prstGeom prst="rect">
            <a:avLst/>
          </a:prstGeom>
          <a:noFill/>
          <a:ln>
            <a:noFill/>
          </a:ln>
          <a:effectLst>
            <a:outerShdw>
              <a:srgbClr val="000000">
                <a:alpha val="0"/>
              </a:srgbClr>
            </a:outerShdw>
          </a:effectLst>
        </p:spPr>
        <p:txBody>
          <a:bodyPr wrap="square" lIns="0" tIns="0" rIns="0" bIns="0">
            <a:spAutoFit/>
          </a:bodyPr>
          <a:lstStyle/>
          <a:p>
            <a:pPr>
              <a:lnSpc>
                <a:spcPct val="79200"/>
              </a:lnSpc>
              <a:defRPr sz="1138" b="0" i="0" spc="16">
                <a:solidFill>
                  <a:srgbClr val="FFFFFF"/>
                </a:solidFill>
                <a:latin typeface="DM Sans"/>
              </a:defRPr>
            </a:pPr>
            <a:r>
              <a:rPr sz="1138" b="0" i="0">
                <a:solidFill>
                  <a:srgbClr val="FFFFFF"/>
                </a:solidFill>
                <a:latin typeface="DM Sans"/>
              </a:rPr>
              <a:t>Manages all </a:t>
            </a:r>
            <a:r>
              <a:rPr sz="1138" b="1" i="0">
                <a:solidFill>
                  <a:srgbClr val="FFFFFF"/>
                </a:solidFill>
                <a:latin typeface="DM Sans"/>
              </a:rPr>
              <a:t>mobile interactions</a:t>
            </a:r>
            <a:r>
              <a:rPr sz="1138" b="0" i="0">
                <a:solidFill>
                  <a:srgbClr val="FFFFFF"/>
                </a:solidFill>
                <a:latin typeface="DM Sans"/>
              </a:rPr>
              <a:t> and user interfaces.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6422f4ad-53e2-4e11-a844-1153de0a39a4.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762000" y="842218"/>
            <a:ext cx="10708332"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Technical Stack &amp; API Integration</a:t>
            </a:r>
          </a:p>
        </p:txBody>
      </p:sp>
      <p:pic>
        <p:nvPicPr>
          <p:cNvPr id="5" name="Picture 4" descr="6427670b-5ba8-40a0-a35f-142920dd843a.png"/>
          <p:cNvPicPr>
            <a:picLocks noChangeAspect="1"/>
          </p:cNvPicPr>
          <p:nvPr/>
        </p:nvPicPr>
        <p:blipFill>
          <a:blip r:embed="rId5"/>
          <a:stretch>
            <a:fillRect/>
          </a:stretch>
        </p:blipFill>
        <p:spPr>
          <a:xfrm>
            <a:off x="4239071" y="1804689"/>
            <a:ext cx="3841700" cy="4117181"/>
          </a:xfrm>
          <a:prstGeom prst="rect">
            <a:avLst/>
          </a:prstGeom>
        </p:spPr>
      </p:pic>
      <p:pic>
        <p:nvPicPr>
          <p:cNvPr id="6" name="Picture 5" descr="139b63f8-dab6-4d15-858e-f31d1b5009c9.png"/>
          <p:cNvPicPr>
            <a:picLocks noChangeAspect="1"/>
          </p:cNvPicPr>
          <p:nvPr/>
        </p:nvPicPr>
        <p:blipFill>
          <a:blip r:embed="rId6"/>
          <a:stretch>
            <a:fillRect/>
          </a:stretch>
        </p:blipFill>
        <p:spPr>
          <a:xfrm>
            <a:off x="4801195" y="2540942"/>
            <a:ext cx="714375" cy="714375"/>
          </a:xfrm>
          <a:prstGeom prst="rect">
            <a:avLst/>
          </a:prstGeom>
        </p:spPr>
      </p:pic>
      <p:pic>
        <p:nvPicPr>
          <p:cNvPr id="7" name="Picture 6" descr="5e4babe1-6be2-48b3-a99d-2cd0c0aa47d7.png"/>
          <p:cNvPicPr>
            <a:picLocks noChangeAspect="1"/>
          </p:cNvPicPr>
          <p:nvPr/>
        </p:nvPicPr>
        <p:blipFill>
          <a:blip r:embed="rId7"/>
          <a:stretch>
            <a:fillRect/>
          </a:stretch>
        </p:blipFill>
        <p:spPr>
          <a:xfrm>
            <a:off x="6805166" y="2540942"/>
            <a:ext cx="714375" cy="714375"/>
          </a:xfrm>
          <a:prstGeom prst="rect">
            <a:avLst/>
          </a:prstGeom>
        </p:spPr>
      </p:pic>
      <p:pic>
        <p:nvPicPr>
          <p:cNvPr id="8" name="Picture 7" descr="5fc05b6b-96c2-4766-8599-60d137f2ddb9.png"/>
          <p:cNvPicPr>
            <a:picLocks noChangeAspect="1"/>
          </p:cNvPicPr>
          <p:nvPr/>
        </p:nvPicPr>
        <p:blipFill>
          <a:blip r:embed="rId8"/>
          <a:stretch>
            <a:fillRect/>
          </a:stretch>
        </p:blipFill>
        <p:spPr>
          <a:xfrm>
            <a:off x="4773810" y="4559349"/>
            <a:ext cx="714375" cy="714375"/>
          </a:xfrm>
          <a:prstGeom prst="rect">
            <a:avLst/>
          </a:prstGeom>
        </p:spPr>
      </p:pic>
      <p:pic>
        <p:nvPicPr>
          <p:cNvPr id="9" name="Picture 8" descr="d03a4a2b-66bf-48d8-8565-e3cef3935f03.png"/>
          <p:cNvPicPr>
            <a:picLocks noChangeAspect="1"/>
          </p:cNvPicPr>
          <p:nvPr/>
        </p:nvPicPr>
        <p:blipFill>
          <a:blip r:embed="rId9"/>
          <a:stretch>
            <a:fillRect/>
          </a:stretch>
        </p:blipFill>
        <p:spPr>
          <a:xfrm>
            <a:off x="6823620" y="4616499"/>
            <a:ext cx="714375" cy="695325"/>
          </a:xfrm>
          <a:prstGeom prst="rect">
            <a:avLst/>
          </a:prstGeom>
        </p:spPr>
      </p:pic>
      <p:sp>
        <p:nvSpPr>
          <p:cNvPr id="10" name="TextBox 9"/>
          <p:cNvSpPr txBox="1"/>
          <p:nvPr/>
        </p:nvSpPr>
        <p:spPr>
          <a:xfrm>
            <a:off x="1326356" y="2349251"/>
            <a:ext cx="2506265" cy="19213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Playfair Display"/>
              </a:defRPr>
            </a:pPr>
            <a:r>
              <a:rPr sz="1335" b="1" i="0">
                <a:solidFill>
                  <a:srgbClr val="FFFFFF"/>
                </a:solidFill>
                <a:latin typeface="Playfair Display"/>
              </a:rPr>
              <a:t>Frontend Development Stack</a:t>
            </a:r>
          </a:p>
        </p:txBody>
      </p:sp>
      <p:sp>
        <p:nvSpPr>
          <p:cNvPr id="11" name="TextBox 10"/>
          <p:cNvSpPr txBox="1"/>
          <p:nvPr/>
        </p:nvSpPr>
        <p:spPr>
          <a:xfrm>
            <a:off x="1326356" y="2598539"/>
            <a:ext cx="2506265" cy="652760"/>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03" b="0" i="0" spc="18">
                <a:solidFill>
                  <a:srgbClr val="FFFFFF"/>
                </a:solidFill>
                <a:latin typeface="DM Sans"/>
              </a:defRPr>
            </a:pPr>
            <a:r>
              <a:rPr sz="1203" b="0" i="0">
                <a:solidFill>
                  <a:srgbClr val="FFFFFF"/>
                </a:solidFill>
                <a:latin typeface="DM Sans"/>
              </a:rPr>
              <a:t>We use </a:t>
            </a:r>
            <a:r>
              <a:rPr sz="1203" b="1" i="0">
                <a:solidFill>
                  <a:srgbClr val="FFFFFF"/>
                </a:solidFill>
                <a:latin typeface="DM Sans"/>
              </a:rPr>
              <a:t>HTML5</a:t>
            </a:r>
            <a:r>
              <a:rPr sz="1203" b="0" i="0">
                <a:solidFill>
                  <a:srgbClr val="FFFFFF"/>
                </a:solidFill>
                <a:latin typeface="DM Sans"/>
              </a:rPr>
              <a:t>, </a:t>
            </a:r>
            <a:r>
              <a:rPr sz="1203" b="1" i="0">
                <a:solidFill>
                  <a:srgbClr val="FFFFFF"/>
                </a:solidFill>
                <a:latin typeface="DM Sans"/>
              </a:rPr>
              <a:t>CSS</a:t>
            </a:r>
            <a:r>
              <a:rPr sz="1203" b="0" i="0">
                <a:solidFill>
                  <a:srgbClr val="FFFFFF"/>
                </a:solidFill>
                <a:latin typeface="DM Sans"/>
              </a:rPr>
              <a:t>, and </a:t>
            </a:r>
            <a:r>
              <a:rPr sz="1203" b="1" i="0">
                <a:solidFill>
                  <a:srgbClr val="FFFFFF"/>
                </a:solidFill>
                <a:latin typeface="DM Sans"/>
              </a:rPr>
              <a:t>JavaScript</a:t>
            </a:r>
            <a:r>
              <a:rPr sz="1203" b="0" i="0">
                <a:solidFill>
                  <a:srgbClr val="FFFFFF"/>
                </a:solidFill>
                <a:latin typeface="DM Sans"/>
              </a:rPr>
              <a:t> for responsive web interfaces.</a:t>
            </a:r>
          </a:p>
        </p:txBody>
      </p:sp>
      <p:sp>
        <p:nvSpPr>
          <p:cNvPr id="12" name="TextBox 11"/>
          <p:cNvSpPr txBox="1"/>
          <p:nvPr/>
        </p:nvSpPr>
        <p:spPr>
          <a:xfrm>
            <a:off x="8634412" y="2349251"/>
            <a:ext cx="2774007" cy="19213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Playfair Display"/>
              </a:defRPr>
            </a:pPr>
            <a:r>
              <a:rPr sz="1335" b="1" i="0">
                <a:solidFill>
                  <a:srgbClr val="FFFFFF"/>
                </a:solidFill>
                <a:latin typeface="Playfair Display"/>
              </a:rPr>
              <a:t>Backend Framework Selection</a:t>
            </a:r>
          </a:p>
        </p:txBody>
      </p:sp>
      <p:sp>
        <p:nvSpPr>
          <p:cNvPr id="13" name="TextBox 12"/>
          <p:cNvSpPr txBox="1"/>
          <p:nvPr/>
        </p:nvSpPr>
        <p:spPr>
          <a:xfrm>
            <a:off x="8634412" y="2598539"/>
            <a:ext cx="2493019" cy="66585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FFFFFF"/>
                </a:solidFill>
                <a:latin typeface="DM Sans"/>
              </a:defRPr>
            </a:pPr>
            <a:r>
              <a:rPr sz="1203" b="0" i="0">
                <a:solidFill>
                  <a:srgbClr val="FFFFFF"/>
                </a:solidFill>
                <a:latin typeface="DM Sans"/>
              </a:rPr>
              <a:t>Scalable server logic built with </a:t>
            </a:r>
            <a:r>
              <a:rPr sz="1203" b="1" i="0">
                <a:solidFill>
                  <a:srgbClr val="FFFFFF"/>
                </a:solidFill>
                <a:latin typeface="DM Sans"/>
              </a:rPr>
              <a:t>Python</a:t>
            </a:r>
            <a:r>
              <a:rPr sz="1203" b="0" i="0">
                <a:solidFill>
                  <a:srgbClr val="FFFFFF"/>
                </a:solidFill>
                <a:latin typeface="DM Sans"/>
              </a:rPr>
              <a:t> and </a:t>
            </a:r>
            <a:r>
              <a:rPr sz="1203" b="1" i="0">
                <a:solidFill>
                  <a:srgbClr val="FFFFFF"/>
                </a:solidFill>
                <a:latin typeface="DM Sans"/>
              </a:rPr>
              <a:t>Node.js</a:t>
            </a:r>
            <a:r>
              <a:rPr sz="1203" b="0" i="0">
                <a:solidFill>
                  <a:srgbClr val="FFFFFF"/>
                </a:solidFill>
                <a:latin typeface="DM Sans"/>
              </a:rPr>
              <a:t> for performance.</a:t>
            </a:r>
          </a:p>
        </p:txBody>
      </p:sp>
      <p:sp>
        <p:nvSpPr>
          <p:cNvPr id="14" name="TextBox 13"/>
          <p:cNvSpPr txBox="1"/>
          <p:nvPr/>
        </p:nvSpPr>
        <p:spPr>
          <a:xfrm>
            <a:off x="1326356" y="4410670"/>
            <a:ext cx="2506265" cy="192137"/>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335" b="1" i="0" spc="20">
                <a:solidFill>
                  <a:srgbClr val="FFFFFF"/>
                </a:solidFill>
                <a:latin typeface="Playfair Display"/>
              </a:defRPr>
            </a:pPr>
            <a:r>
              <a:rPr sz="1335" b="1" i="0">
                <a:solidFill>
                  <a:srgbClr val="FFFFFF"/>
                </a:solidFill>
                <a:latin typeface="Playfair Display"/>
              </a:rPr>
              <a:t>Database Management</a:t>
            </a:r>
          </a:p>
        </p:txBody>
      </p:sp>
      <p:sp>
        <p:nvSpPr>
          <p:cNvPr id="15" name="TextBox 14"/>
          <p:cNvSpPr txBox="1"/>
          <p:nvPr/>
        </p:nvSpPr>
        <p:spPr>
          <a:xfrm>
            <a:off x="1326356" y="4659957"/>
            <a:ext cx="2506265" cy="692050"/>
          </a:xfrm>
          <a:prstGeom prst="rect">
            <a:avLst/>
          </a:prstGeom>
          <a:noFill/>
          <a:ln>
            <a:noFill/>
          </a:ln>
          <a:effectLst>
            <a:outerShdw>
              <a:srgbClr val="000000">
                <a:alpha val="0"/>
              </a:srgbClr>
            </a:outerShdw>
          </a:effectLst>
        </p:spPr>
        <p:txBody>
          <a:bodyPr wrap="square" lIns="0" tIns="0" rIns="0" bIns="0">
            <a:spAutoFit/>
          </a:bodyPr>
          <a:lstStyle/>
          <a:p>
            <a:pPr algn="r">
              <a:lnSpc>
                <a:spcPct val="95200"/>
              </a:lnSpc>
              <a:defRPr sz="1203" b="0" i="0" spc="18">
                <a:solidFill>
                  <a:srgbClr val="FFFFFF"/>
                </a:solidFill>
                <a:latin typeface="DM Sans"/>
              </a:defRPr>
            </a:pPr>
            <a:r>
              <a:rPr sz="1203" b="0" i="0">
                <a:solidFill>
                  <a:srgbClr val="FFFFFF"/>
                </a:solidFill>
                <a:latin typeface="DM Sans"/>
              </a:rPr>
              <a:t>Leveraging </a:t>
            </a:r>
            <a:r>
              <a:rPr sz="1203" b="1" i="0">
                <a:solidFill>
                  <a:srgbClr val="FFFFFF"/>
                </a:solidFill>
                <a:latin typeface="DM Sans"/>
              </a:rPr>
              <a:t>MySQL</a:t>
            </a:r>
            <a:r>
              <a:rPr sz="1203" b="0" i="0">
                <a:solidFill>
                  <a:srgbClr val="FFFFFF"/>
                </a:solidFill>
                <a:latin typeface="DM Sans"/>
              </a:rPr>
              <a:t> and </a:t>
            </a:r>
            <a:r>
              <a:rPr sz="1203" b="1" i="0">
                <a:solidFill>
                  <a:srgbClr val="FFFFFF"/>
                </a:solidFill>
                <a:latin typeface="DM Sans"/>
              </a:rPr>
              <a:t>SQL Server</a:t>
            </a:r>
            <a:r>
              <a:rPr sz="1203" b="0" i="0">
                <a:solidFill>
                  <a:srgbClr val="FFFFFF"/>
                </a:solidFill>
                <a:latin typeface="DM Sans"/>
              </a:rPr>
              <a:t> for reliable data storage solutions.</a:t>
            </a:r>
          </a:p>
        </p:txBody>
      </p:sp>
      <p:sp>
        <p:nvSpPr>
          <p:cNvPr id="16" name="TextBox 15"/>
          <p:cNvSpPr txBox="1"/>
          <p:nvPr/>
        </p:nvSpPr>
        <p:spPr>
          <a:xfrm>
            <a:off x="8634412" y="4410670"/>
            <a:ext cx="2519808" cy="19213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335" b="1" i="0" spc="20">
                <a:solidFill>
                  <a:srgbClr val="FFFFFF"/>
                </a:solidFill>
                <a:latin typeface="Playfair Display"/>
              </a:defRPr>
            </a:pPr>
            <a:r>
              <a:rPr sz="1335" b="1" i="0">
                <a:solidFill>
                  <a:srgbClr val="FFFFFF"/>
                </a:solidFill>
                <a:latin typeface="Playfair Display"/>
              </a:rPr>
              <a:t>Project Lifecycle Tools</a:t>
            </a:r>
          </a:p>
        </p:txBody>
      </p:sp>
      <p:sp>
        <p:nvSpPr>
          <p:cNvPr id="17" name="TextBox 16"/>
          <p:cNvSpPr txBox="1"/>
          <p:nvPr/>
        </p:nvSpPr>
        <p:spPr>
          <a:xfrm>
            <a:off x="8634412" y="4659957"/>
            <a:ext cx="2493019" cy="678953"/>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03" b="0" i="0" spc="18">
                <a:solidFill>
                  <a:srgbClr val="FFFFFF"/>
                </a:solidFill>
                <a:latin typeface="DM Sans"/>
              </a:defRPr>
            </a:pPr>
            <a:r>
              <a:rPr sz="1203" b="0" i="0">
                <a:solidFill>
                  <a:srgbClr val="FFFFFF"/>
                </a:solidFill>
                <a:latin typeface="DM Sans"/>
              </a:rPr>
              <a:t>Integrated workflow using </a:t>
            </a:r>
            <a:r>
              <a:rPr sz="1203" b="1" i="0">
                <a:solidFill>
                  <a:srgbClr val="FFFFFF"/>
                </a:solidFill>
                <a:latin typeface="DM Sans"/>
              </a:rPr>
              <a:t>GitHub</a:t>
            </a:r>
            <a:r>
              <a:rPr sz="1203" b="0" i="0">
                <a:solidFill>
                  <a:srgbClr val="FFFFFF"/>
                </a:solidFill>
                <a:latin typeface="DM Sans"/>
              </a:rPr>
              <a:t> for versioning and </a:t>
            </a:r>
            <a:r>
              <a:rPr sz="1203" b="1" i="0">
                <a:solidFill>
                  <a:srgbClr val="FFFFFF"/>
                </a:solidFill>
                <a:latin typeface="DM Sans"/>
              </a:rPr>
              <a:t>Jira</a:t>
            </a:r>
            <a:r>
              <a:rPr sz="1203" b="0" i="0">
                <a:solidFill>
                  <a:srgbClr val="FFFFFF"/>
                </a:solidFill>
                <a:latin typeface="DM Sans"/>
              </a:rPr>
              <a:t> for agile tracking.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Grp="1" noRot="1" noChangeAspect="1" noMove="1" noResize="1" noEditPoints="1" noAdjustHandles="1" noChangeArrowheads="1" noChangeShapeType="1" noCrop="1"/>
          </p:cNvPicPr>
          <p:nvPr/>
        </p:nvPicPr>
        <p:blipFill>
          <a:blip r:embed="rId3"/>
          <a:stretch>
            <a:fillRect/>
          </a:stretch>
        </p:blipFill>
        <p:spPr>
          <a:xfrm>
            <a:off x="0" y="0"/>
            <a:ext cx="12192000" cy="6858000"/>
          </a:xfrm>
          <a:prstGeom prst="rect">
            <a:avLst/>
          </a:prstGeom>
        </p:spPr>
      </p:pic>
      <p:pic>
        <p:nvPicPr>
          <p:cNvPr id="3" name="Picture 2" descr="b977e876-a223-4b5e-86de-7a9d30f05b36.png"/>
          <p:cNvPicPr>
            <a:picLocks noGrp="1" noRot="1" noChangeAspect="1" noMove="1" noResize="1" noEditPoints="1" noAdjustHandles="1" noChangeArrowheads="1" noChangeShapeType="1" noCrop="1"/>
          </p:cNvPicPr>
          <p:nvPr/>
        </p:nvPicPr>
        <p:blipFill>
          <a:blip r:embed="rId4"/>
          <a:stretch>
            <a:fillRect/>
          </a:stretch>
        </p:blipFill>
        <p:spPr>
          <a:xfrm>
            <a:off x="0" y="314241"/>
            <a:ext cx="8396633" cy="6543758"/>
          </a:xfrm>
          <a:prstGeom prst="rect">
            <a:avLst/>
          </a:prstGeom>
        </p:spPr>
      </p:pic>
      <p:sp>
        <p:nvSpPr>
          <p:cNvPr id="4" name="TextBox 3"/>
          <p:cNvSpPr txBox="1"/>
          <p:nvPr/>
        </p:nvSpPr>
        <p:spPr>
          <a:xfrm>
            <a:off x="778073" y="858738"/>
            <a:ext cx="4921746"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User Journey Flow</a:t>
            </a:r>
          </a:p>
        </p:txBody>
      </p:sp>
      <p:sp>
        <p:nvSpPr>
          <p:cNvPr id="5" name="TextBox 4"/>
          <p:cNvSpPr txBox="1"/>
          <p:nvPr/>
        </p:nvSpPr>
        <p:spPr>
          <a:xfrm>
            <a:off x="778073" y="1529357"/>
            <a:ext cx="4964757" cy="70246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Visualizing the </a:t>
            </a:r>
            <a:r>
              <a:rPr sz="1269" b="1" i="0">
                <a:solidFill>
                  <a:srgbClr val="FFFFFF"/>
                </a:solidFill>
                <a:latin typeface="DM Sans"/>
              </a:rPr>
              <a:t>end-to-end experience</a:t>
            </a:r>
            <a:r>
              <a:rPr sz="1269" b="0" i="0">
                <a:solidFill>
                  <a:srgbClr val="FFFFFF"/>
                </a:solidFill>
                <a:latin typeface="DM Sans"/>
              </a:rPr>
              <a:t> from onboarding to final assessments to ensure </a:t>
            </a:r>
            <a:r>
              <a:rPr sz="1269" b="1" i="0">
                <a:solidFill>
                  <a:srgbClr val="FFFFFF"/>
                </a:solidFill>
                <a:latin typeface="DM Sans"/>
              </a:rPr>
              <a:t>seamless interaction</a:t>
            </a:r>
            <a:r>
              <a:rPr sz="1269" b="0" i="0">
                <a:solidFill>
                  <a:srgbClr val="FFFFFF"/>
                </a:solidFill>
                <a:latin typeface="DM Sans"/>
              </a:rPr>
              <a:t> and goal alignment.</a:t>
            </a:r>
          </a:p>
        </p:txBody>
      </p:sp>
      <p:pic>
        <p:nvPicPr>
          <p:cNvPr id="6" name="Picture 5" descr="1e95a5de-9785-4fe0-aa16-91b7b72f937a.png"/>
          <p:cNvPicPr>
            <a:picLocks noGrp="1" noRot="1" noChangeAspect="1" noMove="1" noResize="1" noEditPoints="1" noAdjustHandles="1" noChangeArrowheads="1" noChangeShapeType="1" noCrop="1"/>
          </p:cNvPicPr>
          <p:nvPr/>
        </p:nvPicPr>
        <p:blipFill>
          <a:blip r:embed="rId5"/>
          <a:stretch>
            <a:fillRect/>
          </a:stretch>
        </p:blipFill>
        <p:spPr>
          <a:xfrm>
            <a:off x="1809898" y="0"/>
            <a:ext cx="8353425" cy="6858000"/>
          </a:xfrm>
          <a:prstGeom prst="rect">
            <a:avLst/>
          </a:prstGeom>
        </p:spPr>
      </p:pic>
      <p:pic>
        <p:nvPicPr>
          <p:cNvPr id="7" name="Picture 6" descr="2cb516b6-ad25-46a1-b0f9-8f3c4b0fdc22.png"/>
          <p:cNvPicPr>
            <a:picLocks noChangeAspect="1"/>
          </p:cNvPicPr>
          <p:nvPr/>
        </p:nvPicPr>
        <p:blipFill>
          <a:blip r:embed="rId6"/>
          <a:stretch>
            <a:fillRect/>
          </a:stretch>
        </p:blipFill>
        <p:spPr>
          <a:xfrm>
            <a:off x="4919216" y="4681537"/>
            <a:ext cx="278457" cy="278457"/>
          </a:xfrm>
          <a:prstGeom prst="rect">
            <a:avLst/>
          </a:prstGeom>
        </p:spPr>
      </p:pic>
      <p:sp>
        <p:nvSpPr>
          <p:cNvPr id="8" name="TextBox 7"/>
          <p:cNvSpPr txBox="1"/>
          <p:nvPr/>
        </p:nvSpPr>
        <p:spPr>
          <a:xfrm>
            <a:off x="4946451" y="4724697"/>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dirty="0">
                <a:solidFill>
                  <a:srgbClr val="2075BC"/>
                </a:solidFill>
                <a:latin typeface="DM Sans"/>
              </a:rPr>
              <a:t>1</a:t>
            </a:r>
          </a:p>
        </p:txBody>
      </p:sp>
      <p:sp>
        <p:nvSpPr>
          <p:cNvPr id="9" name="TextBox 8"/>
          <p:cNvSpPr txBox="1"/>
          <p:nvPr/>
        </p:nvSpPr>
        <p:spPr>
          <a:xfrm>
            <a:off x="4919216" y="5069383"/>
            <a:ext cx="1993106"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Account Creation</a:t>
            </a:r>
          </a:p>
        </p:txBody>
      </p:sp>
      <p:sp>
        <p:nvSpPr>
          <p:cNvPr id="10" name="TextBox 9"/>
          <p:cNvSpPr txBox="1"/>
          <p:nvPr/>
        </p:nvSpPr>
        <p:spPr>
          <a:xfrm>
            <a:off x="4919216" y="5332065"/>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Start</a:t>
            </a:r>
            <a:r>
              <a:rPr sz="1269" b="0" i="0">
                <a:solidFill>
                  <a:srgbClr val="FFFFFF"/>
                </a:solidFill>
                <a:latin typeface="DM Sans"/>
              </a:rPr>
              <a:t> by setting up secure profiles to track training progress.</a:t>
            </a:r>
          </a:p>
        </p:txBody>
      </p:sp>
      <p:pic>
        <p:nvPicPr>
          <p:cNvPr id="11" name="Picture 10" descr="6252d56d-2907-473b-951d-72662cf86bb7.png"/>
          <p:cNvPicPr>
            <a:picLocks noChangeAspect="1"/>
          </p:cNvPicPr>
          <p:nvPr/>
        </p:nvPicPr>
        <p:blipFill>
          <a:blip r:embed="rId7"/>
          <a:stretch>
            <a:fillRect/>
          </a:stretch>
        </p:blipFill>
        <p:spPr>
          <a:xfrm>
            <a:off x="6676132" y="1123950"/>
            <a:ext cx="278457" cy="278457"/>
          </a:xfrm>
          <a:prstGeom prst="rect">
            <a:avLst/>
          </a:prstGeom>
        </p:spPr>
      </p:pic>
      <p:sp>
        <p:nvSpPr>
          <p:cNvPr id="12" name="TextBox 11"/>
          <p:cNvSpPr txBox="1"/>
          <p:nvPr/>
        </p:nvSpPr>
        <p:spPr>
          <a:xfrm>
            <a:off x="6744273" y="1166961"/>
            <a:ext cx="207317"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lang="en-AU" sz="1269" b="1" i="0" dirty="0">
                <a:solidFill>
                  <a:srgbClr val="2075BC"/>
                </a:solidFill>
                <a:latin typeface="DM Sans"/>
              </a:rPr>
              <a:t>2</a:t>
            </a:r>
            <a:endParaRPr sz="1269" b="1" i="0" dirty="0">
              <a:solidFill>
                <a:srgbClr val="2075BC"/>
              </a:solidFill>
              <a:latin typeface="DM Sans"/>
            </a:endParaRPr>
          </a:p>
        </p:txBody>
      </p:sp>
      <p:sp>
        <p:nvSpPr>
          <p:cNvPr id="13" name="TextBox 12"/>
          <p:cNvSpPr txBox="1"/>
          <p:nvPr/>
        </p:nvSpPr>
        <p:spPr>
          <a:xfrm>
            <a:off x="6702602" y="1511796"/>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dirty="0">
                <a:solidFill>
                  <a:srgbClr val="FFFFFF"/>
                </a:solidFill>
                <a:latin typeface="DM Sans"/>
              </a:rPr>
              <a:t>Simulation Launch</a:t>
            </a:r>
          </a:p>
        </p:txBody>
      </p:sp>
      <p:sp>
        <p:nvSpPr>
          <p:cNvPr id="14" name="TextBox 13"/>
          <p:cNvSpPr txBox="1"/>
          <p:nvPr/>
        </p:nvSpPr>
        <p:spPr>
          <a:xfrm>
            <a:off x="6702602" y="1774477"/>
            <a:ext cx="2111871" cy="953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dirty="0">
                <a:solidFill>
                  <a:srgbClr val="FFFFFF"/>
                </a:solidFill>
                <a:latin typeface="DM Sans"/>
              </a:rPr>
              <a:t>The system deploys </a:t>
            </a:r>
            <a:r>
              <a:rPr sz="1269" b="1" i="0" dirty="0">
                <a:solidFill>
                  <a:srgbClr val="FFFFFF"/>
                </a:solidFill>
                <a:latin typeface="DM Sans"/>
              </a:rPr>
              <a:t>phishing scenarios</a:t>
            </a:r>
            <a:r>
              <a:rPr sz="1269" b="0" i="0" dirty="0">
                <a:solidFill>
                  <a:srgbClr val="FFFFFF"/>
                </a:solidFill>
                <a:latin typeface="DM Sans"/>
              </a:rPr>
              <a:t> to test employee awareness.</a:t>
            </a:r>
          </a:p>
        </p:txBody>
      </p:sp>
      <p:pic>
        <p:nvPicPr>
          <p:cNvPr id="15" name="Picture 14" descr="0a55123c-f5bc-4e00-bf38-e6b7b54c98c6.png"/>
          <p:cNvPicPr>
            <a:picLocks noChangeAspect="1"/>
          </p:cNvPicPr>
          <p:nvPr/>
        </p:nvPicPr>
        <p:blipFill>
          <a:blip r:embed="rId8"/>
          <a:stretch>
            <a:fillRect/>
          </a:stretch>
        </p:blipFill>
        <p:spPr>
          <a:xfrm>
            <a:off x="5269408" y="3022996"/>
            <a:ext cx="278457" cy="278457"/>
          </a:xfrm>
          <a:prstGeom prst="rect">
            <a:avLst/>
          </a:prstGeom>
        </p:spPr>
      </p:pic>
      <p:sp>
        <p:nvSpPr>
          <p:cNvPr id="16" name="TextBox 15"/>
          <p:cNvSpPr txBox="1"/>
          <p:nvPr/>
        </p:nvSpPr>
        <p:spPr>
          <a:xfrm>
            <a:off x="5296644" y="3066008"/>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3</a:t>
            </a:r>
          </a:p>
        </p:txBody>
      </p:sp>
      <p:sp>
        <p:nvSpPr>
          <p:cNvPr id="17" name="TextBox 16"/>
          <p:cNvSpPr txBox="1"/>
          <p:nvPr/>
        </p:nvSpPr>
        <p:spPr>
          <a:xfrm>
            <a:off x="5269408" y="3410842"/>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Active Engagement</a:t>
            </a:r>
          </a:p>
        </p:txBody>
      </p:sp>
      <p:sp>
        <p:nvSpPr>
          <p:cNvPr id="18" name="TextBox 17"/>
          <p:cNvSpPr txBox="1"/>
          <p:nvPr/>
        </p:nvSpPr>
        <p:spPr>
          <a:xfrm>
            <a:off x="5269408" y="3673524"/>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Users interact with emails, </a:t>
            </a:r>
            <a:r>
              <a:rPr sz="1269" b="1" i="0">
                <a:solidFill>
                  <a:srgbClr val="FFFFFF"/>
                </a:solidFill>
                <a:latin typeface="DM Sans"/>
              </a:rPr>
              <a:t>identifying</a:t>
            </a:r>
            <a:r>
              <a:rPr sz="1269" b="0" i="0">
                <a:solidFill>
                  <a:srgbClr val="FFFFFF"/>
                </a:solidFill>
                <a:latin typeface="DM Sans"/>
              </a:rPr>
              <a:t> or failing to spot threats.</a:t>
            </a:r>
          </a:p>
        </p:txBody>
      </p:sp>
      <p:pic>
        <p:nvPicPr>
          <p:cNvPr id="19" name="Picture 18" descr="88d8bc31-b753-4232-92a7-1f050b1e8094.png"/>
          <p:cNvPicPr>
            <a:picLocks noChangeAspect="1"/>
          </p:cNvPicPr>
          <p:nvPr/>
        </p:nvPicPr>
        <p:blipFill>
          <a:blip r:embed="rId9"/>
          <a:stretch>
            <a:fillRect/>
          </a:stretch>
        </p:blipFill>
        <p:spPr>
          <a:xfrm>
            <a:off x="7851278" y="3022996"/>
            <a:ext cx="278457" cy="278457"/>
          </a:xfrm>
          <a:prstGeom prst="rect">
            <a:avLst/>
          </a:prstGeom>
        </p:spPr>
      </p:pic>
      <p:sp>
        <p:nvSpPr>
          <p:cNvPr id="20" name="TextBox 19"/>
          <p:cNvSpPr txBox="1"/>
          <p:nvPr/>
        </p:nvSpPr>
        <p:spPr>
          <a:xfrm>
            <a:off x="7878514" y="3066008"/>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4</a:t>
            </a:r>
          </a:p>
        </p:txBody>
      </p:sp>
      <p:sp>
        <p:nvSpPr>
          <p:cNvPr id="21" name="TextBox 20"/>
          <p:cNvSpPr txBox="1"/>
          <p:nvPr/>
        </p:nvSpPr>
        <p:spPr>
          <a:xfrm>
            <a:off x="7851278" y="3410842"/>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Instant Feedback</a:t>
            </a:r>
          </a:p>
        </p:txBody>
      </p:sp>
      <p:sp>
        <p:nvSpPr>
          <p:cNvPr id="22" name="TextBox 21"/>
          <p:cNvSpPr txBox="1"/>
          <p:nvPr/>
        </p:nvSpPr>
        <p:spPr>
          <a:xfrm>
            <a:off x="7851278" y="3673524"/>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1" i="0">
                <a:solidFill>
                  <a:srgbClr val="FFFFFF"/>
                </a:solidFill>
                <a:latin typeface="DM Sans"/>
              </a:rPr>
              <a:t>Real-time alerts</a:t>
            </a:r>
            <a:r>
              <a:rPr sz="1269" b="0" i="0">
                <a:solidFill>
                  <a:srgbClr val="FFFFFF"/>
                </a:solidFill>
                <a:latin typeface="DM Sans"/>
              </a:rPr>
              <a:t> provide immediate insights based on user actions.</a:t>
            </a:r>
          </a:p>
        </p:txBody>
      </p:sp>
      <p:pic>
        <p:nvPicPr>
          <p:cNvPr id="23" name="Picture 22" descr="43112795-a58d-4ee0-b09a-ef6a1620898e.png"/>
          <p:cNvPicPr>
            <a:picLocks noChangeAspect="1"/>
          </p:cNvPicPr>
          <p:nvPr/>
        </p:nvPicPr>
        <p:blipFill>
          <a:blip r:embed="rId10"/>
          <a:stretch>
            <a:fillRect/>
          </a:stretch>
        </p:blipFill>
        <p:spPr>
          <a:xfrm>
            <a:off x="2121693" y="4602956"/>
            <a:ext cx="278457" cy="278457"/>
          </a:xfrm>
          <a:prstGeom prst="rect">
            <a:avLst/>
          </a:prstGeom>
        </p:spPr>
      </p:pic>
      <p:sp>
        <p:nvSpPr>
          <p:cNvPr id="24" name="TextBox 23"/>
          <p:cNvSpPr txBox="1"/>
          <p:nvPr/>
        </p:nvSpPr>
        <p:spPr>
          <a:xfrm>
            <a:off x="2148929" y="4646116"/>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5</a:t>
            </a:r>
          </a:p>
        </p:txBody>
      </p:sp>
      <p:sp>
        <p:nvSpPr>
          <p:cNvPr id="25" name="TextBox 24"/>
          <p:cNvSpPr txBox="1"/>
          <p:nvPr/>
        </p:nvSpPr>
        <p:spPr>
          <a:xfrm>
            <a:off x="2121693" y="4990802"/>
            <a:ext cx="1993106"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Assessment Scoring</a:t>
            </a:r>
          </a:p>
        </p:txBody>
      </p:sp>
      <p:sp>
        <p:nvSpPr>
          <p:cNvPr id="26" name="TextBox 25"/>
          <p:cNvSpPr txBox="1"/>
          <p:nvPr/>
        </p:nvSpPr>
        <p:spPr>
          <a:xfrm>
            <a:off x="2121693" y="5253483"/>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A </a:t>
            </a:r>
            <a:r>
              <a:rPr sz="1269" b="1" i="0">
                <a:solidFill>
                  <a:srgbClr val="FFFFFF"/>
                </a:solidFill>
                <a:latin typeface="DM Sans"/>
              </a:rPr>
              <a:t>final score</a:t>
            </a:r>
            <a:r>
              <a:rPr sz="1269" b="0" i="0">
                <a:solidFill>
                  <a:srgbClr val="FFFFFF"/>
                </a:solidFill>
                <a:latin typeface="DM Sans"/>
              </a:rPr>
              <a:t> measures the user's current security posture.</a:t>
            </a:r>
          </a:p>
        </p:txBody>
      </p:sp>
      <p:pic>
        <p:nvPicPr>
          <p:cNvPr id="27" name="Picture 26" descr="9536fdfa-26fd-41f1-b9ae-34e39881f9c3.png"/>
          <p:cNvPicPr>
            <a:picLocks noChangeAspect="1"/>
          </p:cNvPicPr>
          <p:nvPr/>
        </p:nvPicPr>
        <p:blipFill>
          <a:blip r:embed="rId11"/>
          <a:stretch>
            <a:fillRect/>
          </a:stretch>
        </p:blipFill>
        <p:spPr>
          <a:xfrm>
            <a:off x="2420987" y="3022996"/>
            <a:ext cx="278457" cy="278457"/>
          </a:xfrm>
          <a:prstGeom prst="rect">
            <a:avLst/>
          </a:prstGeom>
        </p:spPr>
      </p:pic>
      <p:sp>
        <p:nvSpPr>
          <p:cNvPr id="28" name="TextBox 27"/>
          <p:cNvSpPr txBox="1"/>
          <p:nvPr/>
        </p:nvSpPr>
        <p:spPr>
          <a:xfrm>
            <a:off x="2448222" y="3066008"/>
            <a:ext cx="255835"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2075BC"/>
                </a:solidFill>
                <a:latin typeface="DM Sans"/>
              </a:defRPr>
            </a:pPr>
            <a:r>
              <a:rPr sz="1269" b="1" i="0">
                <a:solidFill>
                  <a:srgbClr val="2075BC"/>
                </a:solidFill>
                <a:latin typeface="DM Sans"/>
              </a:rPr>
              <a:t>6</a:t>
            </a:r>
          </a:p>
        </p:txBody>
      </p:sp>
      <p:sp>
        <p:nvSpPr>
          <p:cNvPr id="29" name="TextBox 28"/>
          <p:cNvSpPr txBox="1"/>
          <p:nvPr/>
        </p:nvSpPr>
        <p:spPr>
          <a:xfrm>
            <a:off x="2420987" y="3410842"/>
            <a:ext cx="18703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System Alignment</a:t>
            </a:r>
          </a:p>
        </p:txBody>
      </p:sp>
      <p:sp>
        <p:nvSpPr>
          <p:cNvPr id="30" name="TextBox 29"/>
          <p:cNvSpPr txBox="1"/>
          <p:nvPr/>
        </p:nvSpPr>
        <p:spPr>
          <a:xfrm>
            <a:off x="2420987" y="3673524"/>
            <a:ext cx="2111871" cy="7634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Mapping ensures the </a:t>
            </a:r>
            <a:r>
              <a:rPr sz="1269" b="1" i="0">
                <a:solidFill>
                  <a:srgbClr val="FFFFFF"/>
                </a:solidFill>
                <a:latin typeface="DM Sans"/>
              </a:rPr>
              <a:t>architecture</a:t>
            </a:r>
            <a:r>
              <a:rPr sz="1269" b="0" i="0">
                <a:solidFill>
                  <a:srgbClr val="FFFFFF"/>
                </a:solidFill>
                <a:latin typeface="DM Sans"/>
              </a:rPr>
              <a:t> meets core business objectives.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f12fc8fc-aa86-4be8-9ad6-724ddc6e1435.png"/>
          <p:cNvPicPr>
            <a:picLocks noChangeAspect="1"/>
          </p:cNvPicPr>
          <p:nvPr/>
        </p:nvPicPr>
        <p:blipFill>
          <a:blip r:embed="rId4"/>
          <a:stretch>
            <a:fillRect/>
          </a:stretch>
        </p:blipFill>
        <p:spPr>
          <a:xfrm>
            <a:off x="0" y="328826"/>
            <a:ext cx="9175451" cy="6529173"/>
          </a:xfrm>
          <a:prstGeom prst="rect">
            <a:avLst/>
          </a:prstGeom>
        </p:spPr>
      </p:pic>
      <p:sp>
        <p:nvSpPr>
          <p:cNvPr id="4" name="TextBox 3"/>
          <p:cNvSpPr txBox="1"/>
          <p:nvPr/>
        </p:nvSpPr>
        <p:spPr>
          <a:xfrm>
            <a:off x="764827" y="788937"/>
            <a:ext cx="10439697"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Initial Planning Retrospective</a:t>
            </a:r>
          </a:p>
        </p:txBody>
      </p:sp>
      <p:pic>
        <p:nvPicPr>
          <p:cNvPr id="5" name="Picture 4" descr="4f33ba2e-c1b9-475c-a79b-6b718f23ba11.png"/>
          <p:cNvPicPr>
            <a:picLocks noChangeAspect="1"/>
          </p:cNvPicPr>
          <p:nvPr/>
        </p:nvPicPr>
        <p:blipFill>
          <a:blip r:embed="rId5"/>
          <a:stretch>
            <a:fillRect/>
          </a:stretch>
        </p:blipFill>
        <p:spPr>
          <a:xfrm>
            <a:off x="4182516" y="2127200"/>
            <a:ext cx="4011513" cy="3771602"/>
          </a:xfrm>
          <a:prstGeom prst="rect">
            <a:avLst/>
          </a:prstGeom>
        </p:spPr>
      </p:pic>
      <p:pic>
        <p:nvPicPr>
          <p:cNvPr id="6" name="Picture 5" descr="66a7b091-2a6c-47a8-987d-ab7d2e5ce504.png"/>
          <p:cNvPicPr>
            <a:picLocks noChangeAspect="1"/>
          </p:cNvPicPr>
          <p:nvPr/>
        </p:nvPicPr>
        <p:blipFill>
          <a:blip r:embed="rId6"/>
          <a:stretch>
            <a:fillRect/>
          </a:stretch>
        </p:blipFill>
        <p:spPr>
          <a:xfrm>
            <a:off x="5907434" y="3379886"/>
            <a:ext cx="496341" cy="511671"/>
          </a:xfrm>
          <a:prstGeom prst="rect">
            <a:avLst/>
          </a:prstGeom>
        </p:spPr>
      </p:pic>
      <p:sp>
        <p:nvSpPr>
          <p:cNvPr id="7" name="TextBox 6"/>
          <p:cNvSpPr txBox="1"/>
          <p:nvPr/>
        </p:nvSpPr>
        <p:spPr>
          <a:xfrm>
            <a:off x="5765303" y="3972669"/>
            <a:ext cx="799504" cy="376386"/>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0F92F4"/>
                </a:solidFill>
                <a:latin typeface="DM Sans"/>
              </a:defRPr>
            </a:pPr>
            <a:r>
              <a:rPr sz="1523" b="1" i="0">
                <a:solidFill>
                  <a:srgbClr val="0F92F4"/>
                </a:solidFill>
                <a:latin typeface="DM Sans"/>
              </a:rPr>
              <a:t>Project Core</a:t>
            </a:r>
          </a:p>
        </p:txBody>
      </p:sp>
      <p:pic>
        <p:nvPicPr>
          <p:cNvPr id="8" name="Picture 7" descr="f7e02ec0-4b27-42e2-a937-2e910a5ddbe9.png"/>
          <p:cNvPicPr>
            <a:picLocks noChangeAspect="1"/>
          </p:cNvPicPr>
          <p:nvPr/>
        </p:nvPicPr>
        <p:blipFill>
          <a:blip r:embed="rId7"/>
          <a:stretch>
            <a:fillRect/>
          </a:stretch>
        </p:blipFill>
        <p:spPr>
          <a:xfrm>
            <a:off x="4690913" y="2515641"/>
            <a:ext cx="636984" cy="674191"/>
          </a:xfrm>
          <a:prstGeom prst="rect">
            <a:avLst/>
          </a:prstGeom>
        </p:spPr>
      </p:pic>
      <p:sp>
        <p:nvSpPr>
          <p:cNvPr id="9" name="TextBox 8"/>
          <p:cNvSpPr txBox="1"/>
          <p:nvPr/>
        </p:nvSpPr>
        <p:spPr>
          <a:xfrm>
            <a:off x="4488060" y="3266628"/>
            <a:ext cx="799504" cy="193625"/>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FFFFFF"/>
                </a:solidFill>
                <a:latin typeface="DM Sans"/>
              </a:defRPr>
            </a:pPr>
            <a:r>
              <a:rPr sz="1523" b="1" i="0">
                <a:solidFill>
                  <a:srgbClr val="FFFFFF"/>
                </a:solidFill>
                <a:latin typeface="DM Sans"/>
              </a:rPr>
              <a:t>Scope</a:t>
            </a:r>
          </a:p>
        </p:txBody>
      </p:sp>
      <p:pic>
        <p:nvPicPr>
          <p:cNvPr id="10" name="Picture 9" descr="a041041e-ca97-4451-b836-f8ac73a953d5.png"/>
          <p:cNvPicPr>
            <a:picLocks noChangeAspect="1"/>
          </p:cNvPicPr>
          <p:nvPr/>
        </p:nvPicPr>
        <p:blipFill>
          <a:blip r:embed="rId8"/>
          <a:stretch>
            <a:fillRect/>
          </a:stretch>
        </p:blipFill>
        <p:spPr>
          <a:xfrm>
            <a:off x="7170836" y="3047553"/>
            <a:ext cx="612278" cy="612278"/>
          </a:xfrm>
          <a:prstGeom prst="rect">
            <a:avLst/>
          </a:prstGeom>
        </p:spPr>
      </p:pic>
      <p:sp>
        <p:nvSpPr>
          <p:cNvPr id="11" name="TextBox 10"/>
          <p:cNvSpPr txBox="1"/>
          <p:nvPr/>
        </p:nvSpPr>
        <p:spPr>
          <a:xfrm>
            <a:off x="7124848" y="3767583"/>
            <a:ext cx="799504" cy="193625"/>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FFFFFF"/>
                </a:solidFill>
                <a:latin typeface="DM Sans"/>
              </a:defRPr>
            </a:pPr>
            <a:r>
              <a:rPr sz="1523" b="1" i="0">
                <a:solidFill>
                  <a:srgbClr val="FFFFFF"/>
                </a:solidFill>
                <a:latin typeface="DM Sans"/>
              </a:rPr>
              <a:t>Flow</a:t>
            </a:r>
          </a:p>
        </p:txBody>
      </p:sp>
      <p:pic>
        <p:nvPicPr>
          <p:cNvPr id="12" name="Picture 11" descr="bde68042-791e-4e48-815a-0fa847d5bae6.png"/>
          <p:cNvPicPr>
            <a:picLocks noChangeAspect="1"/>
          </p:cNvPicPr>
          <p:nvPr/>
        </p:nvPicPr>
        <p:blipFill>
          <a:blip r:embed="rId9"/>
          <a:stretch>
            <a:fillRect/>
          </a:stretch>
        </p:blipFill>
        <p:spPr>
          <a:xfrm>
            <a:off x="5938242" y="4920853"/>
            <a:ext cx="587275" cy="549175"/>
          </a:xfrm>
          <a:prstGeom prst="rect">
            <a:avLst/>
          </a:prstGeom>
        </p:spPr>
      </p:pic>
      <p:sp>
        <p:nvSpPr>
          <p:cNvPr id="13" name="TextBox 12"/>
          <p:cNvSpPr txBox="1"/>
          <p:nvPr/>
        </p:nvSpPr>
        <p:spPr>
          <a:xfrm>
            <a:off x="5841652" y="5543847"/>
            <a:ext cx="799504" cy="193625"/>
          </a:xfrm>
          <a:prstGeom prst="rect">
            <a:avLst/>
          </a:prstGeom>
          <a:noFill/>
          <a:ln>
            <a:noFill/>
          </a:ln>
          <a:effectLst>
            <a:outerShdw>
              <a:srgbClr val="000000">
                <a:alpha val="0"/>
              </a:srgbClr>
            </a:outerShdw>
          </a:effectLst>
        </p:spPr>
        <p:txBody>
          <a:bodyPr wrap="square" lIns="0" tIns="0" rIns="0" bIns="0">
            <a:spAutoFit/>
          </a:bodyPr>
          <a:lstStyle/>
          <a:p>
            <a:pPr algn="ctr">
              <a:lnSpc>
                <a:spcPct val="78400"/>
              </a:lnSpc>
              <a:defRPr sz="1523" b="1" i="0" spc="22">
                <a:solidFill>
                  <a:srgbClr val="FFFFFF"/>
                </a:solidFill>
                <a:latin typeface="DM Sans"/>
              </a:defRPr>
            </a:pPr>
            <a:r>
              <a:rPr sz="1523" b="1" i="0">
                <a:solidFill>
                  <a:srgbClr val="FFFFFF"/>
                </a:solidFill>
                <a:latin typeface="DM Sans"/>
              </a:rPr>
              <a:t>Logic</a:t>
            </a:r>
          </a:p>
        </p:txBody>
      </p:sp>
      <p:sp>
        <p:nvSpPr>
          <p:cNvPr id="14" name="TextBox 13"/>
          <p:cNvSpPr txBox="1"/>
          <p:nvPr/>
        </p:nvSpPr>
        <p:spPr>
          <a:xfrm>
            <a:off x="824507" y="2473076"/>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100%</a:t>
            </a:r>
          </a:p>
        </p:txBody>
      </p:sp>
      <p:pic>
        <p:nvPicPr>
          <p:cNvPr id="15" name="Picture 14" descr="bcde6a2e-1d7c-4bcf-a7aa-c0bd08ff72b8.png"/>
          <p:cNvPicPr>
            <a:picLocks noChangeAspect="1"/>
          </p:cNvPicPr>
          <p:nvPr/>
        </p:nvPicPr>
        <p:blipFill>
          <a:blip r:embed="rId10"/>
          <a:stretch>
            <a:fillRect/>
          </a:stretch>
        </p:blipFill>
        <p:spPr>
          <a:xfrm>
            <a:off x="2454324" y="2550914"/>
            <a:ext cx="280541" cy="280541"/>
          </a:xfrm>
          <a:prstGeom prst="rect">
            <a:avLst/>
          </a:prstGeom>
        </p:spPr>
      </p:pic>
      <p:sp>
        <p:nvSpPr>
          <p:cNvPr id="16" name="TextBox 15"/>
          <p:cNvSpPr txBox="1"/>
          <p:nvPr/>
        </p:nvSpPr>
        <p:spPr>
          <a:xfrm>
            <a:off x="866477" y="2978794"/>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Scope Definition</a:t>
            </a:r>
          </a:p>
        </p:txBody>
      </p:sp>
      <p:sp>
        <p:nvSpPr>
          <p:cNvPr id="17" name="TextBox 16"/>
          <p:cNvSpPr txBox="1"/>
          <p:nvPr/>
        </p:nvSpPr>
        <p:spPr>
          <a:xfrm>
            <a:off x="866477" y="3201888"/>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Successfully established project </a:t>
            </a:r>
            <a:r>
              <a:rPr sz="1136" b="1" i="0">
                <a:solidFill>
                  <a:srgbClr val="8A8F99"/>
                </a:solidFill>
                <a:latin typeface="DM Sans"/>
              </a:rPr>
              <a:t>boundaries</a:t>
            </a:r>
            <a:r>
              <a:rPr sz="1136" b="0" i="0">
                <a:solidFill>
                  <a:srgbClr val="8A8F99"/>
                </a:solidFill>
                <a:latin typeface="DM Sans"/>
              </a:rPr>
              <a:t> and core deliverables for teams.</a:t>
            </a:r>
          </a:p>
        </p:txBody>
      </p:sp>
      <p:sp>
        <p:nvSpPr>
          <p:cNvPr id="18" name="TextBox 17"/>
          <p:cNvSpPr txBox="1"/>
          <p:nvPr/>
        </p:nvSpPr>
        <p:spPr>
          <a:xfrm>
            <a:off x="9286428" y="2473076"/>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85+</a:t>
            </a:r>
          </a:p>
        </p:txBody>
      </p:sp>
      <p:pic>
        <p:nvPicPr>
          <p:cNvPr id="19" name="Picture 18" descr="d609f47d-07d9-47ba-8c0d-31c6af4d8cc0.png"/>
          <p:cNvPicPr>
            <a:picLocks noChangeAspect="1"/>
          </p:cNvPicPr>
          <p:nvPr/>
        </p:nvPicPr>
        <p:blipFill>
          <a:blip r:embed="rId11"/>
          <a:stretch>
            <a:fillRect/>
          </a:stretch>
        </p:blipFill>
        <p:spPr>
          <a:xfrm>
            <a:off x="10916245" y="2550914"/>
            <a:ext cx="280541" cy="280541"/>
          </a:xfrm>
          <a:prstGeom prst="rect">
            <a:avLst/>
          </a:prstGeom>
        </p:spPr>
      </p:pic>
      <p:sp>
        <p:nvSpPr>
          <p:cNvPr id="20" name="TextBox 19"/>
          <p:cNvSpPr txBox="1"/>
          <p:nvPr/>
        </p:nvSpPr>
        <p:spPr>
          <a:xfrm>
            <a:off x="9328398" y="2978794"/>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Mapped User Stories</a:t>
            </a:r>
          </a:p>
        </p:txBody>
      </p:sp>
      <p:sp>
        <p:nvSpPr>
          <p:cNvPr id="21" name="TextBox 20"/>
          <p:cNvSpPr txBox="1"/>
          <p:nvPr/>
        </p:nvSpPr>
        <p:spPr>
          <a:xfrm>
            <a:off x="9328398" y="3201888"/>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Objectives translated into </a:t>
            </a:r>
            <a:r>
              <a:rPr sz="1136" b="1" i="0">
                <a:solidFill>
                  <a:srgbClr val="8A8F99"/>
                </a:solidFill>
                <a:latin typeface="DM Sans"/>
              </a:rPr>
              <a:t>actionable stories</a:t>
            </a:r>
            <a:r>
              <a:rPr sz="1136" b="0" i="0">
                <a:solidFill>
                  <a:srgbClr val="8A8F99"/>
                </a:solidFill>
                <a:latin typeface="DM Sans"/>
              </a:rPr>
              <a:t> within the Jira platform.</a:t>
            </a:r>
          </a:p>
        </p:txBody>
      </p:sp>
      <p:sp>
        <p:nvSpPr>
          <p:cNvPr id="22" name="TextBox 21"/>
          <p:cNvSpPr txBox="1"/>
          <p:nvPr/>
        </p:nvSpPr>
        <p:spPr>
          <a:xfrm>
            <a:off x="824507" y="4226123"/>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04</a:t>
            </a:r>
          </a:p>
        </p:txBody>
      </p:sp>
      <p:pic>
        <p:nvPicPr>
          <p:cNvPr id="23" name="Picture 22" descr="107bc3fa-f018-4935-922c-5d3ffa96d62d.png"/>
          <p:cNvPicPr>
            <a:picLocks noChangeAspect="1"/>
          </p:cNvPicPr>
          <p:nvPr/>
        </p:nvPicPr>
        <p:blipFill>
          <a:blip r:embed="rId12"/>
          <a:stretch>
            <a:fillRect/>
          </a:stretch>
        </p:blipFill>
        <p:spPr>
          <a:xfrm>
            <a:off x="2454324" y="4303960"/>
            <a:ext cx="280541" cy="280541"/>
          </a:xfrm>
          <a:prstGeom prst="rect">
            <a:avLst/>
          </a:prstGeom>
        </p:spPr>
      </p:pic>
      <p:sp>
        <p:nvSpPr>
          <p:cNvPr id="24" name="TextBox 23"/>
          <p:cNvSpPr txBox="1"/>
          <p:nvPr/>
        </p:nvSpPr>
        <p:spPr>
          <a:xfrm>
            <a:off x="866477" y="4731841"/>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Optimized Workflows</a:t>
            </a:r>
          </a:p>
        </p:txBody>
      </p:sp>
      <p:sp>
        <p:nvSpPr>
          <p:cNvPr id="25" name="TextBox 24"/>
          <p:cNvSpPr txBox="1"/>
          <p:nvPr/>
        </p:nvSpPr>
        <p:spPr>
          <a:xfrm>
            <a:off x="866477" y="4954934"/>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Collaborative processes established to ensure </a:t>
            </a:r>
            <a:r>
              <a:rPr sz="1136" b="1" i="0">
                <a:solidFill>
                  <a:srgbClr val="8A8F99"/>
                </a:solidFill>
                <a:latin typeface="DM Sans"/>
              </a:rPr>
              <a:t>seamless team</a:t>
            </a:r>
            <a:r>
              <a:rPr sz="1136" b="0" i="0">
                <a:solidFill>
                  <a:srgbClr val="8A8F99"/>
                </a:solidFill>
                <a:latin typeface="DM Sans"/>
              </a:rPr>
              <a:t> communication.</a:t>
            </a:r>
          </a:p>
        </p:txBody>
      </p:sp>
      <p:sp>
        <p:nvSpPr>
          <p:cNvPr id="26" name="TextBox 25"/>
          <p:cNvSpPr txBox="1"/>
          <p:nvPr/>
        </p:nvSpPr>
        <p:spPr>
          <a:xfrm>
            <a:off x="9286428" y="4226123"/>
            <a:ext cx="1535310" cy="441721"/>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117" b="1" i="0" spc="46">
                <a:solidFill>
                  <a:srgbClr val="44AFFF"/>
                </a:solidFill>
                <a:latin typeface="DM Sans"/>
              </a:defRPr>
            </a:pPr>
            <a:r>
              <a:rPr sz="3117" b="1" i="0">
                <a:solidFill>
                  <a:srgbClr val="44AFFF"/>
                </a:solidFill>
                <a:latin typeface="DM Sans"/>
              </a:rPr>
              <a:t>V1.0</a:t>
            </a:r>
          </a:p>
        </p:txBody>
      </p:sp>
      <p:pic>
        <p:nvPicPr>
          <p:cNvPr id="27" name="Picture 26" descr="9cb7626d-81f5-4550-907f-55a0ae7e574c.png"/>
          <p:cNvPicPr>
            <a:picLocks noChangeAspect="1"/>
          </p:cNvPicPr>
          <p:nvPr/>
        </p:nvPicPr>
        <p:blipFill>
          <a:blip r:embed="rId13"/>
          <a:stretch>
            <a:fillRect/>
          </a:stretch>
        </p:blipFill>
        <p:spPr>
          <a:xfrm>
            <a:off x="10916245" y="4303960"/>
            <a:ext cx="280541" cy="280541"/>
          </a:xfrm>
          <a:prstGeom prst="rect">
            <a:avLst/>
          </a:prstGeom>
        </p:spPr>
      </p:pic>
      <p:sp>
        <p:nvSpPr>
          <p:cNvPr id="28" name="TextBox 27"/>
          <p:cNvSpPr txBox="1"/>
          <p:nvPr/>
        </p:nvSpPr>
        <p:spPr>
          <a:xfrm>
            <a:off x="9328398" y="4731841"/>
            <a:ext cx="2435423"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Algorithm Readiness</a:t>
            </a:r>
          </a:p>
        </p:txBody>
      </p:sp>
      <p:sp>
        <p:nvSpPr>
          <p:cNvPr id="29" name="TextBox 28"/>
          <p:cNvSpPr txBox="1"/>
          <p:nvPr/>
        </p:nvSpPr>
        <p:spPr>
          <a:xfrm>
            <a:off x="9328398" y="4954934"/>
            <a:ext cx="1713309" cy="687139"/>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136" b="0" i="0" spc="16">
                <a:solidFill>
                  <a:srgbClr val="8A8F99"/>
                </a:solidFill>
                <a:latin typeface="DM Sans"/>
              </a:defRPr>
            </a:pPr>
            <a:r>
              <a:rPr sz="1136" b="0" i="0">
                <a:solidFill>
                  <a:srgbClr val="8A8F99"/>
                </a:solidFill>
                <a:latin typeface="DM Sans"/>
              </a:rPr>
              <a:t>Early logic definition provided a solid foundation for </a:t>
            </a:r>
            <a:r>
              <a:rPr sz="1136" b="1" i="0">
                <a:solidFill>
                  <a:srgbClr val="8A8F99"/>
                </a:solidFill>
                <a:latin typeface="DM Sans"/>
              </a:rPr>
              <a:t>architecture design</a:t>
            </a:r>
            <a:r>
              <a:rPr sz="1136" b="0" i="0">
                <a:solidFill>
                  <a:srgbClr val="8A8F99"/>
                </a:solidFill>
                <a:latin typeface="DM Sans"/>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0e9b24d5-3003-42a5-82f9-de22137e0529.png"/>
          <p:cNvPicPr>
            <a:picLocks noChangeAspect="1"/>
          </p:cNvPicPr>
          <p:nvPr/>
        </p:nvPicPr>
        <p:blipFill>
          <a:blip r:embed="rId3"/>
          <a:stretch>
            <a:fillRect/>
          </a:stretch>
        </p:blipFill>
        <p:spPr>
          <a:xfrm>
            <a:off x="0" y="0"/>
            <a:ext cx="12192000" cy="6858000"/>
          </a:xfrm>
          <a:prstGeom prst="rect">
            <a:avLst/>
          </a:prstGeom>
        </p:spPr>
      </p:pic>
      <p:pic>
        <p:nvPicPr>
          <p:cNvPr id="3" name="Picture 2" descr="56d715d2-208c-44c8-9aed-a60ab5cfcd31.png"/>
          <p:cNvPicPr>
            <a:picLocks noChangeAspect="1"/>
          </p:cNvPicPr>
          <p:nvPr/>
        </p:nvPicPr>
        <p:blipFill>
          <a:blip r:embed="rId4"/>
          <a:stretch>
            <a:fillRect/>
          </a:stretch>
        </p:blipFill>
        <p:spPr>
          <a:xfrm>
            <a:off x="0" y="314241"/>
            <a:ext cx="8396633" cy="6543758"/>
          </a:xfrm>
          <a:prstGeom prst="rect">
            <a:avLst/>
          </a:prstGeom>
        </p:spPr>
      </p:pic>
      <p:sp>
        <p:nvSpPr>
          <p:cNvPr id="4" name="TextBox 3"/>
          <p:cNvSpPr txBox="1"/>
          <p:nvPr/>
        </p:nvSpPr>
        <p:spPr>
          <a:xfrm>
            <a:off x="778073" y="858738"/>
            <a:ext cx="5773042" cy="5039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3" b="1" i="1" spc="52">
                <a:solidFill>
                  <a:srgbClr val="FFFFFF"/>
                </a:solidFill>
                <a:latin typeface="Syne"/>
              </a:defRPr>
            </a:pPr>
            <a:r>
              <a:rPr sz="3533" b="1" i="1">
                <a:solidFill>
                  <a:srgbClr val="FFFFFF"/>
                </a:solidFill>
                <a:latin typeface="Playfair Display Semi-Bold Italics"/>
              </a:rPr>
              <a:t>Future Improvements</a:t>
            </a:r>
          </a:p>
        </p:txBody>
      </p:sp>
      <p:sp>
        <p:nvSpPr>
          <p:cNvPr id="5" name="TextBox 4"/>
          <p:cNvSpPr txBox="1"/>
          <p:nvPr/>
        </p:nvSpPr>
        <p:spPr>
          <a:xfrm>
            <a:off x="778073" y="1529357"/>
            <a:ext cx="5805189" cy="571500"/>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Implementing frequent code reviews and refining GitHub documentation to maintain high standards and proactively mitigate future technical debt.</a:t>
            </a:r>
          </a:p>
        </p:txBody>
      </p:sp>
      <p:pic>
        <p:nvPicPr>
          <p:cNvPr id="6" name="Picture 5" descr="9dee1266-ed3a-448d-8879-ca8ff64e0f0e.png"/>
          <p:cNvPicPr>
            <a:picLocks noChangeAspect="1"/>
          </p:cNvPicPr>
          <p:nvPr/>
        </p:nvPicPr>
        <p:blipFill>
          <a:blip r:embed="rId5"/>
          <a:stretch>
            <a:fillRect/>
          </a:stretch>
        </p:blipFill>
        <p:spPr>
          <a:xfrm>
            <a:off x="2119163" y="3118395"/>
            <a:ext cx="2156519" cy="2665065"/>
          </a:xfrm>
          <a:prstGeom prst="rect">
            <a:avLst/>
          </a:prstGeom>
        </p:spPr>
      </p:pic>
      <p:pic>
        <p:nvPicPr>
          <p:cNvPr id="7" name="Picture 6" descr="190b943f-aeed-4e83-868e-911fe1431f3c.png"/>
          <p:cNvPicPr>
            <a:picLocks noChangeAspect="1"/>
          </p:cNvPicPr>
          <p:nvPr/>
        </p:nvPicPr>
        <p:blipFill>
          <a:blip r:embed="rId6"/>
          <a:stretch>
            <a:fillRect/>
          </a:stretch>
        </p:blipFill>
        <p:spPr>
          <a:xfrm>
            <a:off x="2119163" y="2835324"/>
            <a:ext cx="2162919" cy="2948136"/>
          </a:xfrm>
          <a:prstGeom prst="rect">
            <a:avLst/>
          </a:prstGeom>
        </p:spPr>
      </p:pic>
      <p:pic>
        <p:nvPicPr>
          <p:cNvPr id="8" name="Picture 7" descr="6237f670-8e8a-405c-928f-0ead300b4dc4.png"/>
          <p:cNvPicPr>
            <a:picLocks noChangeAspect="1"/>
          </p:cNvPicPr>
          <p:nvPr/>
        </p:nvPicPr>
        <p:blipFill>
          <a:blip r:embed="rId7"/>
          <a:stretch>
            <a:fillRect/>
          </a:stretch>
        </p:blipFill>
        <p:spPr>
          <a:xfrm>
            <a:off x="2130623" y="4451002"/>
            <a:ext cx="2156519" cy="1338857"/>
          </a:xfrm>
          <a:prstGeom prst="rect">
            <a:avLst/>
          </a:prstGeom>
        </p:spPr>
      </p:pic>
      <p:sp>
        <p:nvSpPr>
          <p:cNvPr id="9" name="TextBox 8"/>
          <p:cNvSpPr txBox="1"/>
          <p:nvPr/>
        </p:nvSpPr>
        <p:spPr>
          <a:xfrm>
            <a:off x="2197893" y="5084415"/>
            <a:ext cx="1823591"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Alex Rivera</a:t>
            </a:r>
          </a:p>
        </p:txBody>
      </p:sp>
      <p:sp>
        <p:nvSpPr>
          <p:cNvPr id="10" name="TextBox 9"/>
          <p:cNvSpPr txBox="1"/>
          <p:nvPr/>
        </p:nvSpPr>
        <p:spPr>
          <a:xfrm>
            <a:off x="2197893" y="5302597"/>
            <a:ext cx="1913929" cy="44097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Lead Software Engineer</a:t>
            </a:r>
          </a:p>
        </p:txBody>
      </p:sp>
      <p:pic>
        <p:nvPicPr>
          <p:cNvPr id="11" name="Picture 10" descr="9dee1266-ed3a-448d-8879-ca8ff64e0f0e.png"/>
          <p:cNvPicPr>
            <a:picLocks noChangeAspect="1"/>
          </p:cNvPicPr>
          <p:nvPr/>
        </p:nvPicPr>
        <p:blipFill>
          <a:blip r:embed="rId5"/>
          <a:stretch>
            <a:fillRect/>
          </a:stretch>
        </p:blipFill>
        <p:spPr>
          <a:xfrm>
            <a:off x="4801641" y="3118395"/>
            <a:ext cx="2156519" cy="2665065"/>
          </a:xfrm>
          <a:prstGeom prst="rect">
            <a:avLst/>
          </a:prstGeom>
        </p:spPr>
      </p:pic>
      <p:pic>
        <p:nvPicPr>
          <p:cNvPr id="12" name="Picture 11" descr="06b1077c-4f86-494c-adda-cce058345ae8.png"/>
          <p:cNvPicPr>
            <a:picLocks noChangeAspect="1"/>
          </p:cNvPicPr>
          <p:nvPr/>
        </p:nvPicPr>
        <p:blipFill>
          <a:blip r:embed="rId8"/>
          <a:stretch>
            <a:fillRect/>
          </a:stretch>
        </p:blipFill>
        <p:spPr>
          <a:xfrm>
            <a:off x="4801641" y="2835324"/>
            <a:ext cx="2162919" cy="2948136"/>
          </a:xfrm>
          <a:prstGeom prst="rect">
            <a:avLst/>
          </a:prstGeom>
        </p:spPr>
      </p:pic>
      <p:pic>
        <p:nvPicPr>
          <p:cNvPr id="13" name="Picture 12" descr="6237f670-8e8a-405c-928f-0ead300b4dc4.png"/>
          <p:cNvPicPr>
            <a:picLocks noChangeAspect="1"/>
          </p:cNvPicPr>
          <p:nvPr/>
        </p:nvPicPr>
        <p:blipFill>
          <a:blip r:embed="rId7"/>
          <a:stretch>
            <a:fillRect/>
          </a:stretch>
        </p:blipFill>
        <p:spPr>
          <a:xfrm>
            <a:off x="4813101" y="4451002"/>
            <a:ext cx="2156519" cy="1338857"/>
          </a:xfrm>
          <a:prstGeom prst="rect">
            <a:avLst/>
          </a:prstGeom>
        </p:spPr>
      </p:pic>
      <p:sp>
        <p:nvSpPr>
          <p:cNvPr id="14" name="TextBox 13"/>
          <p:cNvSpPr txBox="1"/>
          <p:nvPr/>
        </p:nvSpPr>
        <p:spPr>
          <a:xfrm>
            <a:off x="4880371" y="5084415"/>
            <a:ext cx="1823591"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Casey Jordan</a:t>
            </a:r>
          </a:p>
        </p:txBody>
      </p:sp>
      <p:sp>
        <p:nvSpPr>
          <p:cNvPr id="15" name="TextBox 14"/>
          <p:cNvSpPr txBox="1"/>
          <p:nvPr/>
        </p:nvSpPr>
        <p:spPr>
          <a:xfrm>
            <a:off x="4880371" y="5302597"/>
            <a:ext cx="1913929" cy="44097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Documentation Specialist</a:t>
            </a:r>
          </a:p>
        </p:txBody>
      </p:sp>
      <p:pic>
        <p:nvPicPr>
          <p:cNvPr id="16" name="Picture 15" descr="9dee1266-ed3a-448d-8879-ca8ff64e0f0e.png"/>
          <p:cNvPicPr>
            <a:picLocks noChangeAspect="1"/>
          </p:cNvPicPr>
          <p:nvPr/>
        </p:nvPicPr>
        <p:blipFill>
          <a:blip r:embed="rId5"/>
          <a:stretch>
            <a:fillRect/>
          </a:stretch>
        </p:blipFill>
        <p:spPr>
          <a:xfrm>
            <a:off x="7484119" y="3118395"/>
            <a:ext cx="2156519" cy="2665065"/>
          </a:xfrm>
          <a:prstGeom prst="rect">
            <a:avLst/>
          </a:prstGeom>
        </p:spPr>
      </p:pic>
      <p:pic>
        <p:nvPicPr>
          <p:cNvPr id="17" name="Picture 16" descr="aa741129-1ac7-4382-93a0-25c23c6950ee.png"/>
          <p:cNvPicPr>
            <a:picLocks noChangeAspect="1"/>
          </p:cNvPicPr>
          <p:nvPr/>
        </p:nvPicPr>
        <p:blipFill>
          <a:blip r:embed="rId9"/>
          <a:stretch>
            <a:fillRect/>
          </a:stretch>
        </p:blipFill>
        <p:spPr>
          <a:xfrm>
            <a:off x="7484119" y="2835324"/>
            <a:ext cx="2162919" cy="2948136"/>
          </a:xfrm>
          <a:prstGeom prst="rect">
            <a:avLst/>
          </a:prstGeom>
        </p:spPr>
      </p:pic>
      <p:pic>
        <p:nvPicPr>
          <p:cNvPr id="18" name="Picture 17" descr="6237f670-8e8a-405c-928f-0ead300b4dc4.png"/>
          <p:cNvPicPr>
            <a:picLocks noChangeAspect="1"/>
          </p:cNvPicPr>
          <p:nvPr/>
        </p:nvPicPr>
        <p:blipFill>
          <a:blip r:embed="rId7"/>
          <a:stretch>
            <a:fillRect/>
          </a:stretch>
        </p:blipFill>
        <p:spPr>
          <a:xfrm>
            <a:off x="7495579" y="4451002"/>
            <a:ext cx="2156519" cy="1338857"/>
          </a:xfrm>
          <a:prstGeom prst="rect">
            <a:avLst/>
          </a:prstGeom>
        </p:spPr>
      </p:pic>
      <p:sp>
        <p:nvSpPr>
          <p:cNvPr id="19" name="TextBox 18"/>
          <p:cNvSpPr txBox="1"/>
          <p:nvPr/>
        </p:nvSpPr>
        <p:spPr>
          <a:xfrm>
            <a:off x="7562850" y="5084415"/>
            <a:ext cx="1823591" cy="191988"/>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1" i="0" spc="18">
                <a:solidFill>
                  <a:srgbClr val="FFFFFF"/>
                </a:solidFill>
                <a:latin typeface="DM Sans"/>
              </a:defRPr>
            </a:pPr>
            <a:r>
              <a:rPr sz="1269" b="1" i="0">
                <a:solidFill>
                  <a:srgbClr val="FFFFFF"/>
                </a:solidFill>
                <a:latin typeface="DM Sans"/>
              </a:rPr>
              <a:t>Taylor Quinn</a:t>
            </a:r>
          </a:p>
        </p:txBody>
      </p:sp>
      <p:sp>
        <p:nvSpPr>
          <p:cNvPr id="20" name="TextBox 19"/>
          <p:cNvSpPr txBox="1"/>
          <p:nvPr/>
        </p:nvSpPr>
        <p:spPr>
          <a:xfrm>
            <a:off x="7562850" y="5302597"/>
            <a:ext cx="1913929" cy="440977"/>
          </a:xfrm>
          <a:prstGeom prst="rect">
            <a:avLst/>
          </a:prstGeom>
          <a:noFill/>
          <a:ln>
            <a:noFill/>
          </a:ln>
          <a:effectLst>
            <a:outerShdw>
              <a:srgbClr val="000000">
                <a:alpha val="0"/>
              </a:srgbClr>
            </a:outerShdw>
          </a:effectLst>
        </p:spPr>
        <p:txBody>
          <a:bodyPr wrap="square" lIns="0" tIns="0" rIns="0" bIns="0">
            <a:spAutoFit/>
          </a:bodyPr>
          <a:lstStyle/>
          <a:p>
            <a:pPr>
              <a:lnSpc>
                <a:spcPct val="95200"/>
              </a:lnSpc>
              <a:defRPr sz="1269" b="0" i="0" spc="18">
                <a:solidFill>
                  <a:srgbClr val="FFFFFF"/>
                </a:solidFill>
                <a:latin typeface="DM Sans"/>
              </a:defRPr>
            </a:pPr>
            <a:r>
              <a:rPr sz="1269" b="0" i="0">
                <a:solidFill>
                  <a:srgbClr val="FFFFFF"/>
                </a:solidFill>
                <a:latin typeface="DM Sans"/>
              </a:rPr>
              <a:t>Quality Assurance Lead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ea553730-4b94-4a21-9c33-0df0806bfbad.png"/>
          <p:cNvPicPr>
            <a:picLocks noChangeAspect="1"/>
          </p:cNvPicPr>
          <p:nvPr/>
        </p:nvPicPr>
        <p:blipFill>
          <a:blip r:embed="rId3"/>
          <a:stretch>
            <a:fillRect/>
          </a:stretch>
        </p:blipFill>
        <p:spPr>
          <a:xfrm>
            <a:off x="0" y="0"/>
            <a:ext cx="12192000" cy="5516463"/>
          </a:xfrm>
          <a:prstGeom prst="rect">
            <a:avLst/>
          </a:prstGeom>
        </p:spPr>
      </p:pic>
      <p:pic>
        <p:nvPicPr>
          <p:cNvPr id="3" name="Picture 2" descr="f4c1df95-eaf4-447d-a040-c8d1f0c30683.png"/>
          <p:cNvPicPr>
            <a:picLocks noChangeAspect="1"/>
          </p:cNvPicPr>
          <p:nvPr/>
        </p:nvPicPr>
        <p:blipFill>
          <a:blip r:embed="rId4"/>
          <a:stretch>
            <a:fillRect/>
          </a:stretch>
        </p:blipFill>
        <p:spPr>
          <a:xfrm>
            <a:off x="0" y="0"/>
            <a:ext cx="8655790" cy="6858000"/>
          </a:xfrm>
          <a:prstGeom prst="rect">
            <a:avLst/>
          </a:prstGeom>
        </p:spPr>
      </p:pic>
      <p:pic>
        <p:nvPicPr>
          <p:cNvPr id="4" name="Picture 3" descr="f5980c73-0e52-4ec1-ab92-2ef958a55361.png"/>
          <p:cNvPicPr>
            <a:picLocks noChangeAspect="1"/>
          </p:cNvPicPr>
          <p:nvPr/>
        </p:nvPicPr>
        <p:blipFill>
          <a:blip r:embed="rId5"/>
          <a:stretch>
            <a:fillRect/>
          </a:stretch>
        </p:blipFill>
        <p:spPr>
          <a:xfrm>
            <a:off x="0" y="0"/>
            <a:ext cx="7199898" cy="6858000"/>
          </a:xfrm>
          <a:prstGeom prst="rect">
            <a:avLst/>
          </a:prstGeom>
        </p:spPr>
      </p:pic>
      <p:pic>
        <p:nvPicPr>
          <p:cNvPr id="5" name="Picture 4" descr="50ed82ce-ba85-43f0-b928-de63b1ceb98e.png"/>
          <p:cNvPicPr>
            <a:picLocks noChangeAspect="1"/>
          </p:cNvPicPr>
          <p:nvPr/>
        </p:nvPicPr>
        <p:blipFill>
          <a:blip r:embed="rId6"/>
          <a:stretch>
            <a:fillRect/>
          </a:stretch>
        </p:blipFill>
        <p:spPr>
          <a:xfrm>
            <a:off x="0" y="2618779"/>
            <a:ext cx="4250233" cy="4239220"/>
          </a:xfrm>
          <a:prstGeom prst="rect">
            <a:avLst/>
          </a:prstGeom>
        </p:spPr>
      </p:pic>
      <p:pic>
        <p:nvPicPr>
          <p:cNvPr id="6" name="Picture 5" descr="57cbcdaa-9592-4081-91f6-30dc93529574.png"/>
          <p:cNvPicPr>
            <a:picLocks noChangeAspect="1"/>
          </p:cNvPicPr>
          <p:nvPr/>
        </p:nvPicPr>
        <p:blipFill>
          <a:blip r:embed="rId7"/>
          <a:stretch>
            <a:fillRect/>
          </a:stretch>
        </p:blipFill>
        <p:spPr>
          <a:xfrm>
            <a:off x="0" y="2674590"/>
            <a:ext cx="4183260" cy="4183260"/>
          </a:xfrm>
          <a:prstGeom prst="rect">
            <a:avLst/>
          </a:prstGeom>
        </p:spPr>
      </p:pic>
      <p:sp>
        <p:nvSpPr>
          <p:cNvPr id="7" name="TextBox 6"/>
          <p:cNvSpPr txBox="1"/>
          <p:nvPr/>
        </p:nvSpPr>
        <p:spPr>
          <a:xfrm>
            <a:off x="5326856" y="1938932"/>
            <a:ext cx="5194101" cy="999232"/>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3536" b="1" i="1" spc="52">
                <a:solidFill>
                  <a:srgbClr val="FFFFFF"/>
                </a:solidFill>
                <a:latin typeface="Syne"/>
              </a:defRPr>
            </a:pPr>
            <a:r>
              <a:rPr sz="3536" b="1" i="1">
                <a:solidFill>
                  <a:srgbClr val="FFFFFF"/>
                </a:solidFill>
                <a:latin typeface="Playfair Display Bold Italics"/>
              </a:rPr>
              <a:t>Strategic Outlook for CyberAware</a:t>
            </a:r>
          </a:p>
        </p:txBody>
      </p:sp>
      <p:sp>
        <p:nvSpPr>
          <p:cNvPr id="8" name="TextBox 7"/>
          <p:cNvSpPr txBox="1"/>
          <p:nvPr/>
        </p:nvSpPr>
        <p:spPr>
          <a:xfrm>
            <a:off x="5333107" y="3246387"/>
            <a:ext cx="5204370" cy="1255365"/>
          </a:xfrm>
          <a:prstGeom prst="rect">
            <a:avLst/>
          </a:prstGeom>
          <a:noFill/>
          <a:ln>
            <a:noFill/>
          </a:ln>
          <a:effectLst>
            <a:outerShdw>
              <a:srgbClr val="000000">
                <a:alpha val="0"/>
              </a:srgbClr>
            </a:outerShdw>
          </a:effectLst>
        </p:spPr>
        <p:txBody>
          <a:bodyPr wrap="square" lIns="0" tIns="0" rIns="0" bIns="0">
            <a:spAutoFit/>
          </a:bodyPr>
          <a:lstStyle/>
          <a:p>
            <a:pPr>
              <a:lnSpc>
                <a:spcPct val="88800"/>
              </a:lnSpc>
              <a:defRPr sz="1466" b="0" i="0" spc="21">
                <a:solidFill>
                  <a:srgbClr val="FFFFFF"/>
                </a:solidFill>
                <a:latin typeface="DM Sans"/>
              </a:defRPr>
            </a:pPr>
            <a:r>
              <a:rPr sz="1466" b="0" i="0">
                <a:solidFill>
                  <a:srgbClr val="FFFFFF"/>
                </a:solidFill>
                <a:latin typeface="DM Sans"/>
              </a:rPr>
              <a:t>CyberAware empowers </a:t>
            </a:r>
            <a:r>
              <a:rPr sz="1466" b="1" i="0">
                <a:solidFill>
                  <a:srgbClr val="FFFFFF"/>
                </a:solidFill>
                <a:latin typeface="DM Sans"/>
              </a:rPr>
              <a:t>SmallBiz Connect</a:t>
            </a:r>
            <a:r>
              <a:rPr sz="1466" b="0" i="0">
                <a:solidFill>
                  <a:srgbClr val="FFFFFF"/>
                </a:solidFill>
                <a:latin typeface="DM Sans"/>
              </a:rPr>
              <a:t> to mitigate risks through </a:t>
            </a:r>
            <a:r>
              <a:rPr sz="1466" b="1" i="0">
                <a:solidFill>
                  <a:srgbClr val="FFFFFF"/>
                </a:solidFill>
                <a:latin typeface="DM Sans"/>
              </a:rPr>
              <a:t>interactive learning</a:t>
            </a:r>
            <a:r>
              <a:rPr sz="1466" b="0" i="0">
                <a:solidFill>
                  <a:srgbClr val="FFFFFF"/>
                </a:solidFill>
                <a:latin typeface="DM Sans"/>
              </a:rPr>
              <a:t> and </a:t>
            </a:r>
            <a:r>
              <a:rPr sz="1466" b="1" i="0">
                <a:solidFill>
                  <a:srgbClr val="FFFFFF"/>
                </a:solidFill>
                <a:latin typeface="DM Sans"/>
              </a:rPr>
              <a:t>visual analytics</a:t>
            </a:r>
            <a:r>
              <a:rPr sz="1466" b="0" i="0">
                <a:solidFill>
                  <a:srgbClr val="FFFFFF"/>
                </a:solidFill>
                <a:latin typeface="DM Sans"/>
              </a:rPr>
              <a:t>. We are prepared to launch the first sprint and establish a highly secure digital foundation.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TotalTime>
  <Words>1544</Words>
  <Application>Microsoft Office PowerPoint</Application>
  <PresentationFormat>Widescreen</PresentationFormat>
  <Paragraphs>137</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DM Sans</vt:lpstr>
      <vt:lpstr>Playfair Display</vt:lpstr>
      <vt:lpstr>Playfair Display Bold Italics</vt:lpstr>
      <vt:lpstr>Playfair Display Semi-Bold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Student</dc:creator>
  <cp:keywords/>
  <dc:description>generated using python-pptx</dc:description>
  <cp:lastModifiedBy>abubakarmaikien@gmail.com</cp:lastModifiedBy>
  <cp:revision>5</cp:revision>
  <dcterms:created xsi:type="dcterms:W3CDTF">2013-01-27T09:14:16Z</dcterms:created>
  <dcterms:modified xsi:type="dcterms:W3CDTF">2026-09-18T05:24:05Z</dcterms:modified>
  <cp:category/>
</cp:coreProperties>
</file>